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Roboto Medium"/>
      <p:regular r:id="rId34"/>
      <p:bold r:id="rId35"/>
      <p:italic r:id="rId36"/>
      <p:boldItalic r:id="rId37"/>
    </p:embeddedFont>
    <p:embeddedFont>
      <p:font typeface="Inter"/>
      <p:regular r:id="rId38"/>
      <p:bold r:id="rId39"/>
      <p:italic r:id="rId40"/>
      <p:boldItalic r:id="rId41"/>
    </p:embeddedFont>
    <p:embeddedFont>
      <p:font typeface="PT Sans"/>
      <p:regular r:id="rId42"/>
      <p:bold r:id="rId43"/>
      <p:italic r:id="rId44"/>
      <p:boldItalic r:id="rId45"/>
    </p:embeddedFont>
    <p:embeddedFont>
      <p:font typeface="Inter Medium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297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7786EF-5D8B-46F0-B9CE-F3F2B4F094A5}">
  <a:tblStyle styleId="{757786EF-5D8B-46F0-B9CE-F3F2B4F094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F1C71B8-990C-4BB1-8A3A-F93FCA16436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9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italic.fntdata"/><Relationship Id="rId42" Type="http://schemas.openxmlformats.org/officeDocument/2006/relationships/font" Target="fonts/PTSans-regular.fntdata"/><Relationship Id="rId41" Type="http://schemas.openxmlformats.org/officeDocument/2006/relationships/font" Target="fonts/Inter-boldItalic.fntdata"/><Relationship Id="rId44" Type="http://schemas.openxmlformats.org/officeDocument/2006/relationships/font" Target="fonts/PTSans-italic.fntdata"/><Relationship Id="rId43" Type="http://schemas.openxmlformats.org/officeDocument/2006/relationships/font" Target="fonts/PTSans-bold.fntdata"/><Relationship Id="rId46" Type="http://schemas.openxmlformats.org/officeDocument/2006/relationships/font" Target="fonts/InterMedium-regular.fntdata"/><Relationship Id="rId45" Type="http://schemas.openxmlformats.org/officeDocument/2006/relationships/font" Target="fonts/PT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InterMedium-italic.fntdata"/><Relationship Id="rId47" Type="http://schemas.openxmlformats.org/officeDocument/2006/relationships/font" Target="fonts/InterMedium-bold.fntdata"/><Relationship Id="rId49" Type="http://schemas.openxmlformats.org/officeDocument/2006/relationships/font" Target="fonts/Inter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33" Type="http://schemas.openxmlformats.org/officeDocument/2006/relationships/font" Target="fonts/Roboto-boldItalic.fntdata"/><Relationship Id="rId32" Type="http://schemas.openxmlformats.org/officeDocument/2006/relationships/font" Target="fonts/Roboto-italic.fntdata"/><Relationship Id="rId35" Type="http://schemas.openxmlformats.org/officeDocument/2006/relationships/font" Target="fonts/RobotoMedium-bold.fntdata"/><Relationship Id="rId34" Type="http://schemas.openxmlformats.org/officeDocument/2006/relationships/font" Target="fonts/RobotoMedium-regular.fntdata"/><Relationship Id="rId37" Type="http://schemas.openxmlformats.org/officeDocument/2006/relationships/font" Target="fonts/RobotoMedium-boldItalic.fntdata"/><Relationship Id="rId36" Type="http://schemas.openxmlformats.org/officeDocument/2006/relationships/font" Target="fonts/RobotoMedium-italic.fntdata"/><Relationship Id="rId39" Type="http://schemas.openxmlformats.org/officeDocument/2006/relationships/font" Target="fonts/Inter-bold.fntdata"/><Relationship Id="rId38" Type="http://schemas.openxmlformats.org/officeDocument/2006/relationships/font" Target="fonts/Inter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8300ce3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8300ce3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d1cda8c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d1cda8c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d1cda8c5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d1cda8c5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d1cda8c53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d1cda8c53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d1cda8c53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d1cda8c5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d1cda8c53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d1cda8c53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d1cda8c53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9d1cda8c53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f3954b36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9f3954b36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f3954b36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9f3954b36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d1cda8c53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9d1cda8c53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d1cda8c53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9d1cda8c53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d22f40a7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9d22f40a7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d22f40a7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9d22f40a7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d22f40a72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d22f40a72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d22f40a72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9d22f40a72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d1cda8c53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9d1cda8c53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84d99d1a7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84d99d1a7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d1cda8c53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9d1cda8c53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d1cda8c53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9d1cda8c53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9d1cda8c53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9d1cda8c53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9d1cda8c53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9d1cda8c53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1066800"/>
            <a:ext cx="54078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13226" y="3395547"/>
            <a:ext cx="63501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22376" y="984098"/>
            <a:ext cx="12357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210225"/>
            <a:ext cx="7704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720000" y="3318362"/>
            <a:ext cx="46614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subTitle"/>
          </p:nvPr>
        </p:nvSpPr>
        <p:spPr>
          <a:xfrm>
            <a:off x="719975" y="1734787"/>
            <a:ext cx="46614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3" type="subTitle"/>
          </p:nvPr>
        </p:nvSpPr>
        <p:spPr>
          <a:xfrm>
            <a:off x="719975" y="1379888"/>
            <a:ext cx="46614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4" type="subTitle"/>
          </p:nvPr>
        </p:nvSpPr>
        <p:spPr>
          <a:xfrm>
            <a:off x="719975" y="2963463"/>
            <a:ext cx="46614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" name="Google Shape;28;p5"/>
          <p:cNvSpPr/>
          <p:nvPr>
            <p:ph idx="5" type="pic"/>
          </p:nvPr>
        </p:nvSpPr>
        <p:spPr>
          <a:xfrm>
            <a:off x="5696375" y="1379900"/>
            <a:ext cx="2727600" cy="2861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713225" y="1744525"/>
            <a:ext cx="3681300" cy="21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6" name="Google Shape;36;p7"/>
          <p:cNvSpPr/>
          <p:nvPr>
            <p:ph idx="2" type="pic"/>
          </p:nvPr>
        </p:nvSpPr>
        <p:spPr>
          <a:xfrm>
            <a:off x="4709525" y="445775"/>
            <a:ext cx="3721200" cy="4251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1284000" y="1288150"/>
            <a:ext cx="6576000" cy="15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subTitle"/>
          </p:nvPr>
        </p:nvSpPr>
        <p:spPr>
          <a:xfrm>
            <a:off x="1284000" y="290180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" name="Google Shape;5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hasCustomPrompt="1" idx="2" type="title"/>
          </p:nvPr>
        </p:nvSpPr>
        <p:spPr>
          <a:xfrm>
            <a:off x="713225" y="1400863"/>
            <a:ext cx="5778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3" type="title"/>
          </p:nvPr>
        </p:nvSpPr>
        <p:spPr>
          <a:xfrm>
            <a:off x="4223200" y="1400840"/>
            <a:ext cx="5760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hasCustomPrompt="1" idx="4" type="title"/>
          </p:nvPr>
        </p:nvSpPr>
        <p:spPr>
          <a:xfrm>
            <a:off x="713225" y="2472438"/>
            <a:ext cx="5778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hasCustomPrompt="1" idx="5" type="title"/>
          </p:nvPr>
        </p:nvSpPr>
        <p:spPr>
          <a:xfrm>
            <a:off x="4223200" y="2472414"/>
            <a:ext cx="5760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hasCustomPrompt="1" idx="6" type="title"/>
          </p:nvPr>
        </p:nvSpPr>
        <p:spPr>
          <a:xfrm>
            <a:off x="713225" y="3544013"/>
            <a:ext cx="5778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7" type="title"/>
          </p:nvPr>
        </p:nvSpPr>
        <p:spPr>
          <a:xfrm>
            <a:off x="4223200" y="3543989"/>
            <a:ext cx="5760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1292489" y="1400867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8" type="subTitle"/>
          </p:nvPr>
        </p:nvSpPr>
        <p:spPr>
          <a:xfrm>
            <a:off x="1292489" y="2472433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9" type="subTitle"/>
          </p:nvPr>
        </p:nvSpPr>
        <p:spPr>
          <a:xfrm>
            <a:off x="1292489" y="3544000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3" type="subTitle"/>
          </p:nvPr>
        </p:nvSpPr>
        <p:spPr>
          <a:xfrm>
            <a:off x="4799202" y="1400867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4" type="subTitle"/>
          </p:nvPr>
        </p:nvSpPr>
        <p:spPr>
          <a:xfrm>
            <a:off x="4799202" y="2472431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5" type="subTitle"/>
          </p:nvPr>
        </p:nvSpPr>
        <p:spPr>
          <a:xfrm>
            <a:off x="4799202" y="3543996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713225" y="1744525"/>
            <a:ext cx="3681300" cy="21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1" name="Google Shape;71;p14"/>
          <p:cNvSpPr/>
          <p:nvPr>
            <p:ph idx="2" type="pic"/>
          </p:nvPr>
        </p:nvSpPr>
        <p:spPr>
          <a:xfrm>
            <a:off x="4709525" y="445775"/>
            <a:ext cx="3721200" cy="4251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713275" y="794675"/>
            <a:ext cx="7717500" cy="69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488849" y="2398525"/>
            <a:ext cx="4941900" cy="19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71322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2" type="subTitle"/>
          </p:nvPr>
        </p:nvSpPr>
        <p:spPr>
          <a:xfrm>
            <a:off x="3319390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3" type="subTitle"/>
          </p:nvPr>
        </p:nvSpPr>
        <p:spPr>
          <a:xfrm>
            <a:off x="592555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4" type="subTitle"/>
          </p:nvPr>
        </p:nvSpPr>
        <p:spPr>
          <a:xfrm>
            <a:off x="71322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5" type="subTitle"/>
          </p:nvPr>
        </p:nvSpPr>
        <p:spPr>
          <a:xfrm>
            <a:off x="3319390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6" type="subTitle"/>
          </p:nvPr>
        </p:nvSpPr>
        <p:spPr>
          <a:xfrm>
            <a:off x="592555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hasCustomPrompt="1" idx="7" type="title"/>
          </p:nvPr>
        </p:nvSpPr>
        <p:spPr>
          <a:xfrm>
            <a:off x="3319390" y="1556080"/>
            <a:ext cx="734700" cy="431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8"/>
          <p:cNvSpPr txBox="1"/>
          <p:nvPr>
            <p:ph hasCustomPrompt="1" idx="8" type="title"/>
          </p:nvPr>
        </p:nvSpPr>
        <p:spPr>
          <a:xfrm>
            <a:off x="713225" y="1556083"/>
            <a:ext cx="734700" cy="431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8"/>
          <p:cNvSpPr txBox="1"/>
          <p:nvPr>
            <p:ph hasCustomPrompt="1" idx="9" type="title"/>
          </p:nvPr>
        </p:nvSpPr>
        <p:spPr>
          <a:xfrm>
            <a:off x="5925555" y="1556080"/>
            <a:ext cx="734700" cy="431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713236" y="1841263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2" type="subTitle"/>
          </p:nvPr>
        </p:nvSpPr>
        <p:spPr>
          <a:xfrm>
            <a:off x="4398464" y="1841263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3" type="subTitle"/>
          </p:nvPr>
        </p:nvSpPr>
        <p:spPr>
          <a:xfrm>
            <a:off x="713236" y="3457887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4" type="subTitle"/>
          </p:nvPr>
        </p:nvSpPr>
        <p:spPr>
          <a:xfrm>
            <a:off x="4398464" y="3457887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5" type="subTitle"/>
          </p:nvPr>
        </p:nvSpPr>
        <p:spPr>
          <a:xfrm>
            <a:off x="713236" y="1240363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6" type="subTitle"/>
          </p:nvPr>
        </p:nvSpPr>
        <p:spPr>
          <a:xfrm>
            <a:off x="713236" y="2857000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3" name="Google Shape;103;p19"/>
          <p:cNvSpPr txBox="1"/>
          <p:nvPr>
            <p:ph idx="7" type="subTitle"/>
          </p:nvPr>
        </p:nvSpPr>
        <p:spPr>
          <a:xfrm>
            <a:off x="4398441" y="1240363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" name="Google Shape;104;p19"/>
          <p:cNvSpPr txBox="1"/>
          <p:nvPr>
            <p:ph idx="8" type="subTitle"/>
          </p:nvPr>
        </p:nvSpPr>
        <p:spPr>
          <a:xfrm>
            <a:off x="4398441" y="2857000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20"/>
          <p:cNvSpPr txBox="1"/>
          <p:nvPr>
            <p:ph hasCustomPrompt="1" type="title"/>
          </p:nvPr>
        </p:nvSpPr>
        <p:spPr>
          <a:xfrm>
            <a:off x="713213" y="1961151"/>
            <a:ext cx="3492600" cy="800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20"/>
          <p:cNvSpPr txBox="1"/>
          <p:nvPr>
            <p:ph idx="1" type="subTitle"/>
          </p:nvPr>
        </p:nvSpPr>
        <p:spPr>
          <a:xfrm>
            <a:off x="713213" y="2685345"/>
            <a:ext cx="3492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hasCustomPrompt="1" idx="2" type="title"/>
          </p:nvPr>
        </p:nvSpPr>
        <p:spPr>
          <a:xfrm>
            <a:off x="713222" y="615705"/>
            <a:ext cx="5241300" cy="954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20"/>
          <p:cNvSpPr txBox="1"/>
          <p:nvPr>
            <p:ph idx="3" type="subTitle"/>
          </p:nvPr>
        </p:nvSpPr>
        <p:spPr>
          <a:xfrm>
            <a:off x="713222" y="1493803"/>
            <a:ext cx="5241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11" name="Google Shape;111;p20"/>
          <p:cNvSpPr txBox="1"/>
          <p:nvPr>
            <p:ph hasCustomPrompt="1" idx="4" type="title"/>
          </p:nvPr>
        </p:nvSpPr>
        <p:spPr>
          <a:xfrm>
            <a:off x="713213" y="3121801"/>
            <a:ext cx="3492600" cy="800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20"/>
          <p:cNvSpPr txBox="1"/>
          <p:nvPr>
            <p:ph idx="5" type="subTitle"/>
          </p:nvPr>
        </p:nvSpPr>
        <p:spPr>
          <a:xfrm>
            <a:off x="713213" y="3845995"/>
            <a:ext cx="3492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21"/>
          <p:cNvSpPr txBox="1"/>
          <p:nvPr>
            <p:ph type="title"/>
          </p:nvPr>
        </p:nvSpPr>
        <p:spPr>
          <a:xfrm>
            <a:off x="713225" y="539506"/>
            <a:ext cx="4448100" cy="95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713225" y="1423672"/>
            <a:ext cx="44481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/>
        </p:nvSpPr>
        <p:spPr>
          <a:xfrm>
            <a:off x="713225" y="3164478"/>
            <a:ext cx="309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b="1" lang="en" sz="1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includes icons, infographics &amp; images by </a:t>
            </a:r>
            <a:r>
              <a:rPr b="1" lang="en" sz="1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000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linkedin.com/in/icaroribeiro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713225" y="1066800"/>
            <a:ext cx="70872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Sistema de Gestão de NF-e com IA</a:t>
            </a:r>
            <a:br>
              <a:rPr lang="en"/>
            </a:br>
            <a:br>
              <a:rPr lang="en" sz="1600"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latin typeface="Inter"/>
                <a:ea typeface="Inter"/>
                <a:cs typeface="Inter"/>
                <a:sym typeface="Inter"/>
              </a:rPr>
              <a:t>Transformando Dados Fiscais em Vantagem Competitiva</a:t>
            </a:r>
            <a:endParaRPr sz="2200"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713225" y="3395550"/>
            <a:ext cx="72441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Projeto de Conclusão de Curso: Agentes Autônomos com Redes Generativas</a:t>
            </a:r>
            <a:br>
              <a:rPr b="1" lang="en" sz="2000"/>
            </a:br>
            <a:r>
              <a:rPr lang="en" sz="1300"/>
              <a:t>Apresentação para a Banca Examinadora Novembro de 2025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28" name="Google Shape;128;p24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4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06/11/2025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Sejam bem-vindo(a)s.</a:t>
            </a:r>
            <a:endParaRPr/>
          </a:p>
        </p:txBody>
      </p:sp>
      <p:sp>
        <p:nvSpPr>
          <p:cNvPr id="139" name="Google Shape;139;p25"/>
          <p:cNvSpPr txBox="1"/>
          <p:nvPr>
            <p:ph idx="1" type="subTitle"/>
          </p:nvPr>
        </p:nvSpPr>
        <p:spPr>
          <a:xfrm>
            <a:off x="713225" y="1411775"/>
            <a:ext cx="3681300" cy="10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Este projeto foi desenvolvido pelo </a:t>
            </a:r>
            <a:r>
              <a:rPr b="1" lang="en" sz="1400"/>
              <a:t>Grupo SIA (</a:t>
            </a:r>
            <a:r>
              <a:rPr b="1" lang="en" sz="1400"/>
              <a:t>Soluções Inteligentes Autônomas</a:t>
            </a:r>
            <a:r>
              <a:rPr b="1" lang="en" sz="1400"/>
              <a:t>)</a:t>
            </a:r>
            <a:r>
              <a:rPr lang="en" sz="1400"/>
              <a:t> e é o resultado de um trabalho intensivo em tecnologias de ponta, focado em resolver um problema real e latente no mercado brasileiro.</a:t>
            </a:r>
            <a:br>
              <a:rPr lang="en" sz="1400"/>
            </a:br>
            <a:br>
              <a:rPr lang="en" sz="1500"/>
            </a:br>
            <a:endParaRPr b="1"/>
          </a:p>
        </p:txBody>
      </p:sp>
      <p:sp>
        <p:nvSpPr>
          <p:cNvPr id="140" name="Google Shape;140;p25"/>
          <p:cNvSpPr txBox="1"/>
          <p:nvPr>
            <p:ph idx="4294967295" type="subTitle"/>
          </p:nvPr>
        </p:nvSpPr>
        <p:spPr>
          <a:xfrm>
            <a:off x="5455675" y="3766252"/>
            <a:ext cx="2702100" cy="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/>
              <a:t>Í</a:t>
            </a:r>
            <a:r>
              <a:rPr lang="en" sz="1300"/>
              <a:t>caro Ribeiro</a:t>
            </a:r>
            <a:br>
              <a:rPr lang="en" sz="1300"/>
            </a:br>
            <a:r>
              <a:rPr lang="en" sz="1300"/>
              <a:t>Engenheiro de Software Senior</a:t>
            </a:r>
            <a:endParaRPr sz="1300"/>
          </a:p>
        </p:txBody>
      </p:sp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4966075" y="1024050"/>
            <a:ext cx="3681300" cy="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latin typeface="Inter"/>
                <a:ea typeface="Inter"/>
                <a:cs typeface="Inter"/>
                <a:sym typeface="Inter"/>
              </a:rPr>
              <a:t>Nossa Equipe:</a:t>
            </a: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2" name="Google Shape;142;p25"/>
          <p:cNvCxnSpPr>
            <a:stCxn id="143" idx="2"/>
          </p:cNvCxnSpPr>
          <p:nvPr/>
        </p:nvCxnSpPr>
        <p:spPr>
          <a:xfrm flipH="1" rot="-5400000">
            <a:off x="7395935" y="1477588"/>
            <a:ext cx="367800" cy="15462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4" name="Google Shape;144;p25"/>
          <p:cNvCxnSpPr>
            <a:endCxn id="143" idx="2"/>
          </p:cNvCxnSpPr>
          <p:nvPr/>
        </p:nvCxnSpPr>
        <p:spPr>
          <a:xfrm flipH="1" rot="10800000">
            <a:off x="5260535" y="2066788"/>
            <a:ext cx="1546200" cy="367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3" name="Google Shape;143;p25"/>
          <p:cNvSpPr txBox="1"/>
          <p:nvPr/>
        </p:nvSpPr>
        <p:spPr>
          <a:xfrm>
            <a:off x="6133985" y="1574188"/>
            <a:ext cx="1345500" cy="492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Ícaro Ribeiro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Líder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25" title="174207606294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2025" y="2616850"/>
            <a:ext cx="1149400" cy="11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Tabela de Conteúdo</a:t>
            </a:r>
            <a:endParaRPr/>
          </a:p>
        </p:txBody>
      </p:sp>
      <p:sp>
        <p:nvSpPr>
          <p:cNvPr id="154" name="Google Shape;154;p26"/>
          <p:cNvSpPr txBox="1"/>
          <p:nvPr>
            <p:ph idx="2" type="title"/>
          </p:nvPr>
        </p:nvSpPr>
        <p:spPr>
          <a:xfrm>
            <a:off x="713225" y="1400863"/>
            <a:ext cx="5778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155" name="Google Shape;155;p26"/>
          <p:cNvSpPr txBox="1"/>
          <p:nvPr>
            <p:ph idx="3" type="title"/>
          </p:nvPr>
        </p:nvSpPr>
        <p:spPr>
          <a:xfrm>
            <a:off x="4223200" y="1400840"/>
            <a:ext cx="576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</a:t>
            </a:r>
            <a:endParaRPr/>
          </a:p>
        </p:txBody>
      </p:sp>
      <p:sp>
        <p:nvSpPr>
          <p:cNvPr id="156" name="Google Shape;156;p26"/>
          <p:cNvSpPr txBox="1"/>
          <p:nvPr>
            <p:ph idx="4" type="title"/>
          </p:nvPr>
        </p:nvSpPr>
        <p:spPr>
          <a:xfrm>
            <a:off x="713225" y="2133738"/>
            <a:ext cx="5778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157" name="Google Shape;157;p26"/>
          <p:cNvSpPr txBox="1"/>
          <p:nvPr>
            <p:ph idx="5" type="title"/>
          </p:nvPr>
        </p:nvSpPr>
        <p:spPr>
          <a:xfrm>
            <a:off x="4223200" y="2866614"/>
            <a:ext cx="576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</a:t>
            </a:r>
            <a:endParaRPr/>
          </a:p>
        </p:txBody>
      </p:sp>
      <p:sp>
        <p:nvSpPr>
          <p:cNvPr id="158" name="Google Shape;158;p26"/>
          <p:cNvSpPr txBox="1"/>
          <p:nvPr>
            <p:ph idx="6" type="title"/>
          </p:nvPr>
        </p:nvSpPr>
        <p:spPr>
          <a:xfrm>
            <a:off x="713225" y="3599488"/>
            <a:ext cx="5778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159" name="Google Shape;159;p26"/>
          <p:cNvSpPr txBox="1"/>
          <p:nvPr>
            <p:ph idx="7" type="title"/>
          </p:nvPr>
        </p:nvSpPr>
        <p:spPr>
          <a:xfrm>
            <a:off x="4223200" y="3599489"/>
            <a:ext cx="576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</a:t>
            </a:r>
            <a:endParaRPr/>
          </a:p>
        </p:txBody>
      </p:sp>
      <p:sp>
        <p:nvSpPr>
          <p:cNvPr id="160" name="Google Shape;160;p26"/>
          <p:cNvSpPr txBox="1"/>
          <p:nvPr>
            <p:ph idx="1" type="subTitle"/>
          </p:nvPr>
        </p:nvSpPr>
        <p:spPr>
          <a:xfrm>
            <a:off x="1292489" y="1400867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Problema</a:t>
            </a:r>
            <a:endParaRPr/>
          </a:p>
        </p:txBody>
      </p:sp>
      <p:sp>
        <p:nvSpPr>
          <p:cNvPr id="161" name="Google Shape;161;p26"/>
          <p:cNvSpPr txBox="1"/>
          <p:nvPr>
            <p:ph idx="8" type="subTitle"/>
          </p:nvPr>
        </p:nvSpPr>
        <p:spPr>
          <a:xfrm>
            <a:off x="1292489" y="2133758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Solução</a:t>
            </a:r>
            <a:endParaRPr/>
          </a:p>
        </p:txBody>
      </p:sp>
      <p:sp>
        <p:nvSpPr>
          <p:cNvPr id="162" name="Google Shape;162;p26"/>
          <p:cNvSpPr txBox="1"/>
          <p:nvPr>
            <p:ph idx="9" type="subTitle"/>
          </p:nvPr>
        </p:nvSpPr>
        <p:spPr>
          <a:xfrm>
            <a:off x="1292489" y="2866625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Produto em Ação</a:t>
            </a:r>
            <a:endParaRPr/>
          </a:p>
        </p:txBody>
      </p:sp>
      <p:sp>
        <p:nvSpPr>
          <p:cNvPr id="163" name="Google Shape;163;p26"/>
          <p:cNvSpPr txBox="1"/>
          <p:nvPr>
            <p:ph idx="13" type="subTitle"/>
          </p:nvPr>
        </p:nvSpPr>
        <p:spPr>
          <a:xfrm>
            <a:off x="4799202" y="1400867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de Negócio</a:t>
            </a:r>
            <a:endParaRPr/>
          </a:p>
        </p:txBody>
      </p:sp>
      <p:sp>
        <p:nvSpPr>
          <p:cNvPr id="164" name="Google Shape;164;p26"/>
          <p:cNvSpPr txBox="1"/>
          <p:nvPr>
            <p:ph idx="14" type="subTitle"/>
          </p:nvPr>
        </p:nvSpPr>
        <p:spPr>
          <a:xfrm>
            <a:off x="4724402" y="2866631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Vantagens Competitivas</a:t>
            </a:r>
            <a:endParaRPr/>
          </a:p>
        </p:txBody>
      </p:sp>
      <p:sp>
        <p:nvSpPr>
          <p:cNvPr id="165" name="Google Shape;165;p26"/>
          <p:cNvSpPr txBox="1"/>
          <p:nvPr>
            <p:ph idx="15" type="subTitle"/>
          </p:nvPr>
        </p:nvSpPr>
        <p:spPr>
          <a:xfrm>
            <a:off x="4799202" y="3599496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Próximos Passos</a:t>
            </a:r>
            <a:endParaRPr/>
          </a:p>
        </p:txBody>
      </p:sp>
      <p:sp>
        <p:nvSpPr>
          <p:cNvPr id="166" name="Google Shape;166;p26"/>
          <p:cNvSpPr txBox="1"/>
          <p:nvPr>
            <p:ph idx="9" type="subTitle"/>
          </p:nvPr>
        </p:nvSpPr>
        <p:spPr>
          <a:xfrm>
            <a:off x="1292501" y="3599500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Valor de Mercado</a:t>
            </a:r>
            <a:endParaRPr/>
          </a:p>
        </p:txBody>
      </p:sp>
      <p:sp>
        <p:nvSpPr>
          <p:cNvPr id="167" name="Google Shape;167;p26"/>
          <p:cNvSpPr txBox="1"/>
          <p:nvPr>
            <p:ph idx="14" type="subTitle"/>
          </p:nvPr>
        </p:nvSpPr>
        <p:spPr>
          <a:xfrm>
            <a:off x="4799202" y="2133744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Adoção de Mercado</a:t>
            </a:r>
            <a:endParaRPr/>
          </a:p>
        </p:txBody>
      </p:sp>
      <p:sp>
        <p:nvSpPr>
          <p:cNvPr id="168" name="Google Shape;168;p26"/>
          <p:cNvSpPr txBox="1"/>
          <p:nvPr>
            <p:ph idx="4" type="title"/>
          </p:nvPr>
        </p:nvSpPr>
        <p:spPr>
          <a:xfrm>
            <a:off x="713225" y="2866626"/>
            <a:ext cx="5778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169" name="Google Shape;169;p26"/>
          <p:cNvSpPr txBox="1"/>
          <p:nvPr>
            <p:ph idx="3" type="title"/>
          </p:nvPr>
        </p:nvSpPr>
        <p:spPr>
          <a:xfrm>
            <a:off x="4223200" y="2133740"/>
            <a:ext cx="576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7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95%</a:t>
            </a:r>
            <a:r>
              <a:rPr lang="en"/>
              <a:t> </a:t>
            </a:r>
            <a:r>
              <a:rPr lang="en" sz="2200"/>
              <a:t>das empresas brasileiras pagam mais impostos do que deveriam</a:t>
            </a:r>
            <a:br>
              <a:rPr lang="en" sz="2000"/>
            </a:br>
            <a:r>
              <a:rPr lang="en" sz="1400">
                <a:latin typeface="Inter"/>
                <a:ea typeface="Inter"/>
                <a:cs typeface="Inter"/>
                <a:sym typeface="Inter"/>
              </a:rPr>
              <a:t>(Fonte: Instituto Brasileiro de Planejamento e Tributação - IBPT)</a:t>
            </a:r>
            <a:endParaRPr sz="1400"/>
          </a:p>
        </p:txBody>
      </p:sp>
      <p:sp>
        <p:nvSpPr>
          <p:cNvPr id="178" name="Google Shape;178;p27"/>
          <p:cNvSpPr txBox="1"/>
          <p:nvPr>
            <p:ph idx="2" type="title"/>
          </p:nvPr>
        </p:nvSpPr>
        <p:spPr>
          <a:xfrm>
            <a:off x="722375" y="984100"/>
            <a:ext cx="41319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O Problema</a:t>
            </a:r>
            <a:endParaRPr/>
          </a:p>
        </p:txBody>
      </p:sp>
      <p:sp>
        <p:nvSpPr>
          <p:cNvPr id="179" name="Google Shape;179;p27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“Custo Brasil” Fiscal é definido por:</a:t>
            </a:r>
            <a:endParaRPr/>
          </a:p>
        </p:txBody>
      </p:sp>
      <p:sp>
        <p:nvSpPr>
          <p:cNvPr id="188" name="Google Shape;188;p28"/>
          <p:cNvSpPr txBox="1"/>
          <p:nvPr>
            <p:ph idx="4" type="subTitle"/>
          </p:nvPr>
        </p:nvSpPr>
        <p:spPr>
          <a:xfrm>
            <a:off x="71322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Complexidade</a:t>
            </a:r>
            <a:br>
              <a:rPr lang="en"/>
            </a:br>
            <a:r>
              <a:rPr lang="en"/>
              <a:t>Extrema</a:t>
            </a:r>
            <a:endParaRPr/>
          </a:p>
        </p:txBody>
      </p:sp>
      <p:sp>
        <p:nvSpPr>
          <p:cNvPr id="189" name="Google Shape;189;p28"/>
          <p:cNvSpPr txBox="1"/>
          <p:nvPr>
            <p:ph idx="5" type="subTitle"/>
          </p:nvPr>
        </p:nvSpPr>
        <p:spPr>
          <a:xfrm>
            <a:off x="3319390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Processos Manuais Lentos</a:t>
            </a:r>
            <a:endParaRPr/>
          </a:p>
        </p:txBody>
      </p:sp>
      <p:sp>
        <p:nvSpPr>
          <p:cNvPr id="190" name="Google Shape;190;p28"/>
          <p:cNvSpPr txBox="1"/>
          <p:nvPr>
            <p:ph idx="1" type="subTitle"/>
          </p:nvPr>
        </p:nvSpPr>
        <p:spPr>
          <a:xfrm>
            <a:off x="71322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Milhares de regras fiscais que levam a erros de escrituração.</a:t>
            </a:r>
            <a:endParaRPr sz="1300"/>
          </a:p>
        </p:txBody>
      </p:sp>
      <p:sp>
        <p:nvSpPr>
          <p:cNvPr id="191" name="Google Shape;191;p28"/>
          <p:cNvSpPr txBox="1"/>
          <p:nvPr>
            <p:ph idx="2" type="subTitle"/>
          </p:nvPr>
        </p:nvSpPr>
        <p:spPr>
          <a:xfrm>
            <a:off x="3319390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Horas gastas na digitação e conferência de notas, gerando gargalos operacionais.</a:t>
            </a:r>
            <a:endParaRPr sz="1300"/>
          </a:p>
        </p:txBody>
      </p:sp>
      <p:sp>
        <p:nvSpPr>
          <p:cNvPr id="192" name="Google Shape;192;p28"/>
          <p:cNvSpPr txBox="1"/>
          <p:nvPr>
            <p:ph idx="3" type="subTitle"/>
          </p:nvPr>
        </p:nvSpPr>
        <p:spPr>
          <a:xfrm>
            <a:off x="592555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Gestores tomam decisões sem uma visão clara e consolidada dos dados fiscais.</a:t>
            </a:r>
            <a:endParaRPr sz="1300"/>
          </a:p>
        </p:txBody>
      </p:sp>
      <p:sp>
        <p:nvSpPr>
          <p:cNvPr id="193" name="Google Shape;193;p28"/>
          <p:cNvSpPr txBox="1"/>
          <p:nvPr>
            <p:ph idx="6" type="subTitle"/>
          </p:nvPr>
        </p:nvSpPr>
        <p:spPr>
          <a:xfrm>
            <a:off x="592555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Falta de Visibilidade Estratégica</a:t>
            </a:r>
            <a:endParaRPr/>
          </a:p>
        </p:txBody>
      </p:sp>
      <p:sp>
        <p:nvSpPr>
          <p:cNvPr id="194" name="Google Shape;194;p28"/>
          <p:cNvSpPr txBox="1"/>
          <p:nvPr>
            <p:ph idx="7" type="title"/>
          </p:nvPr>
        </p:nvSpPr>
        <p:spPr>
          <a:xfrm>
            <a:off x="3319390" y="1556080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195" name="Google Shape;195;p28"/>
          <p:cNvSpPr txBox="1"/>
          <p:nvPr>
            <p:ph idx="8" type="title"/>
          </p:nvPr>
        </p:nvSpPr>
        <p:spPr>
          <a:xfrm>
            <a:off x="713225" y="1556083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196" name="Google Shape;196;p28"/>
          <p:cNvSpPr txBox="1"/>
          <p:nvPr>
            <p:ph idx="9" type="title"/>
          </p:nvPr>
        </p:nvSpPr>
        <p:spPr>
          <a:xfrm>
            <a:off x="5925555" y="1556080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197" name="Google Shape;197;p28"/>
          <p:cNvSpPr txBox="1"/>
          <p:nvPr>
            <p:ph idx="6" type="subTitle"/>
          </p:nvPr>
        </p:nvSpPr>
        <p:spPr>
          <a:xfrm>
            <a:off x="713211" y="3457875"/>
            <a:ext cx="7717500" cy="9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 o Cenário se agrava: A Reforma Tributária (EC 132/23) cria uma urgência sem precedentes para a organização e otimização fiscal.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9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Apresentamos o Sistema de Gestão de NF-e com IA</a:t>
            </a:r>
            <a:endParaRPr sz="2200"/>
          </a:p>
        </p:txBody>
      </p:sp>
      <p:sp>
        <p:nvSpPr>
          <p:cNvPr id="206" name="Google Shape;206;p29"/>
          <p:cNvSpPr txBox="1"/>
          <p:nvPr>
            <p:ph idx="2" type="title"/>
          </p:nvPr>
        </p:nvSpPr>
        <p:spPr>
          <a:xfrm>
            <a:off x="722375" y="984100"/>
            <a:ext cx="41319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A Solução</a:t>
            </a:r>
            <a:endParaRPr/>
          </a:p>
        </p:txBody>
      </p:sp>
      <p:sp>
        <p:nvSpPr>
          <p:cNvPr id="207" name="Google Shape;207;p29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Uma plataforma inteligente que automatiza o fluxo de dados fiscais e os transforma em insights acionáveis.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30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Nossos 3 Pilares:</a:t>
            </a:r>
            <a:endParaRPr/>
          </a:p>
        </p:txBody>
      </p:sp>
      <p:sp>
        <p:nvSpPr>
          <p:cNvPr id="216" name="Google Shape;216;p30"/>
          <p:cNvSpPr txBox="1"/>
          <p:nvPr>
            <p:ph idx="4" type="subTitle"/>
          </p:nvPr>
        </p:nvSpPr>
        <p:spPr>
          <a:xfrm>
            <a:off x="71322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Automação de Ponta a Ponta</a:t>
            </a:r>
            <a:endParaRPr/>
          </a:p>
        </p:txBody>
      </p:sp>
      <p:sp>
        <p:nvSpPr>
          <p:cNvPr id="217" name="Google Shape;217;p30"/>
          <p:cNvSpPr txBox="1"/>
          <p:nvPr>
            <p:ph idx="5" type="subTitle"/>
          </p:nvPr>
        </p:nvSpPr>
        <p:spPr>
          <a:xfrm>
            <a:off x="3319390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Análise Visual e Intuitiva</a:t>
            </a:r>
            <a:endParaRPr/>
          </a:p>
        </p:txBody>
      </p:sp>
      <p:sp>
        <p:nvSpPr>
          <p:cNvPr id="218" name="Google Shape;218;p30"/>
          <p:cNvSpPr txBox="1"/>
          <p:nvPr>
            <p:ph idx="1" type="subTitle"/>
          </p:nvPr>
        </p:nvSpPr>
        <p:spPr>
          <a:xfrm>
            <a:off x="71322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Deixe que nossos agentes de IA cuidem da extração, mapeamento e inserção dos dados. </a:t>
            </a:r>
            <a:r>
              <a:rPr b="1" lang="en" sz="1300"/>
              <a:t>Zero entrada manual, zero erros operacionais.</a:t>
            </a:r>
            <a:endParaRPr sz="1300"/>
          </a:p>
        </p:txBody>
      </p:sp>
      <p:sp>
        <p:nvSpPr>
          <p:cNvPr id="219" name="Google Shape;219;p30"/>
          <p:cNvSpPr txBox="1"/>
          <p:nvPr>
            <p:ph idx="2" type="subTitle"/>
          </p:nvPr>
        </p:nvSpPr>
        <p:spPr>
          <a:xfrm>
            <a:off x="3319390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Dashboards interativos que revelam padrões de faturamento, performance de produtos e tendências geográficas. </a:t>
            </a:r>
            <a:r>
              <a:rPr b="1" lang="en" sz="1300"/>
              <a:t>Transforme dados em decisões.</a:t>
            </a:r>
            <a:endParaRPr sz="1300"/>
          </a:p>
        </p:txBody>
      </p:sp>
      <p:sp>
        <p:nvSpPr>
          <p:cNvPr id="220" name="Google Shape;220;p30"/>
          <p:cNvSpPr txBox="1"/>
          <p:nvPr>
            <p:ph idx="3" type="subTitle"/>
          </p:nvPr>
        </p:nvSpPr>
        <p:spPr>
          <a:xfrm>
            <a:off x="592555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Faça perguntas complexas em português e obtenha respostas instantâneas com textos e gráficos. </a:t>
            </a:r>
            <a:r>
              <a:rPr b="1" lang="en" sz="1300"/>
              <a:t>Converse com seus dados.</a:t>
            </a:r>
            <a:endParaRPr sz="1300"/>
          </a:p>
        </p:txBody>
      </p:sp>
      <p:sp>
        <p:nvSpPr>
          <p:cNvPr id="221" name="Google Shape;221;p30"/>
          <p:cNvSpPr txBox="1"/>
          <p:nvPr>
            <p:ph idx="6" type="subTitle"/>
          </p:nvPr>
        </p:nvSpPr>
        <p:spPr>
          <a:xfrm>
            <a:off x="592555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Assistente Conversacional com IA</a:t>
            </a:r>
            <a:endParaRPr/>
          </a:p>
        </p:txBody>
      </p:sp>
      <p:sp>
        <p:nvSpPr>
          <p:cNvPr id="222" name="Google Shape;222;p30"/>
          <p:cNvSpPr txBox="1"/>
          <p:nvPr>
            <p:ph idx="7" type="title"/>
          </p:nvPr>
        </p:nvSpPr>
        <p:spPr>
          <a:xfrm>
            <a:off x="3319390" y="1556080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223" name="Google Shape;223;p30"/>
          <p:cNvSpPr txBox="1"/>
          <p:nvPr>
            <p:ph idx="8" type="title"/>
          </p:nvPr>
        </p:nvSpPr>
        <p:spPr>
          <a:xfrm>
            <a:off x="713225" y="1556083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224" name="Google Shape;224;p30"/>
          <p:cNvSpPr txBox="1"/>
          <p:nvPr>
            <p:ph idx="9" type="title"/>
          </p:nvPr>
        </p:nvSpPr>
        <p:spPr>
          <a:xfrm>
            <a:off x="5925555" y="1556080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31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06/11/2025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31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31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Exibimos mini-capturas de tela das funções do sistema</a:t>
            </a:r>
            <a:endParaRPr sz="2200"/>
          </a:p>
        </p:txBody>
      </p:sp>
      <p:sp>
        <p:nvSpPr>
          <p:cNvPr id="233" name="Google Shape;233;p31"/>
          <p:cNvSpPr txBox="1"/>
          <p:nvPr>
            <p:ph idx="2" type="title"/>
          </p:nvPr>
        </p:nvSpPr>
        <p:spPr>
          <a:xfrm>
            <a:off x="722375" y="984100"/>
            <a:ext cx="62310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O Produto em Ação</a:t>
            </a:r>
            <a:endParaRPr/>
          </a:p>
        </p:txBody>
      </p:sp>
      <p:sp>
        <p:nvSpPr>
          <p:cNvPr id="234" name="Google Shape;234;p31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Nossa missão é democratizar a inteligência fiscal, tornando a gestão tributária simples, estratégica e eficiente.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2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Ingestão Automatizada</a:t>
            </a:r>
            <a:endParaRPr/>
          </a:p>
        </p:txBody>
      </p:sp>
      <p:sp>
        <p:nvSpPr>
          <p:cNvPr id="243" name="Google Shape;243;p32"/>
          <p:cNvSpPr txBox="1"/>
          <p:nvPr>
            <p:ph idx="2" type="subTitle"/>
          </p:nvPr>
        </p:nvSpPr>
        <p:spPr>
          <a:xfrm>
            <a:off x="719975" y="1734775"/>
            <a:ext cx="2976300" cy="28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 usuário faz o upload das NF-e em formato CSV compactadas. Nosso </a:t>
            </a:r>
            <a:r>
              <a:rPr b="1" lang="en" sz="1400"/>
              <a:t>Agente Supervisor</a:t>
            </a:r>
            <a:r>
              <a:rPr lang="en" sz="1400"/>
              <a:t> orquestra especialistas em IA que descompactam, mapeiam e inserem os dados no banco. Simples, rápido e seguro.</a:t>
            </a:r>
            <a:endParaRPr sz="1400"/>
          </a:p>
        </p:txBody>
      </p:sp>
      <p:sp>
        <p:nvSpPr>
          <p:cNvPr id="244" name="Google Shape;244;p32"/>
          <p:cNvSpPr txBox="1"/>
          <p:nvPr>
            <p:ph idx="3" type="subTitle"/>
          </p:nvPr>
        </p:nvSpPr>
        <p:spPr>
          <a:xfrm>
            <a:off x="719975" y="1379900"/>
            <a:ext cx="2976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Envie Arquivo ZIP com NF-e</a:t>
            </a:r>
            <a:endParaRPr/>
          </a:p>
        </p:txBody>
      </p:sp>
      <p:pic>
        <p:nvPicPr>
          <p:cNvPr id="245" name="Google Shape;24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275" y="1379906"/>
            <a:ext cx="4852176" cy="273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3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3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Dashboards Interativos</a:t>
            </a:r>
            <a:endParaRPr/>
          </a:p>
        </p:txBody>
      </p:sp>
      <p:sp>
        <p:nvSpPr>
          <p:cNvPr id="254" name="Google Shape;254;p33"/>
          <p:cNvSpPr txBox="1"/>
          <p:nvPr>
            <p:ph idx="2" type="subTitle"/>
          </p:nvPr>
        </p:nvSpPr>
        <p:spPr>
          <a:xfrm>
            <a:off x="719975" y="1734775"/>
            <a:ext cx="2976300" cy="28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Com um clique, visualize o faturamento total por estado em um mapa, analise o ranking dos produtos mais vendidos ou filtre dados por qualquer período.</a:t>
            </a:r>
            <a:endParaRPr sz="1400"/>
          </a:p>
        </p:txBody>
      </p:sp>
      <p:sp>
        <p:nvSpPr>
          <p:cNvPr id="255" name="Google Shape;255;p33"/>
          <p:cNvSpPr txBox="1"/>
          <p:nvPr>
            <p:ph idx="3" type="subTitle"/>
          </p:nvPr>
        </p:nvSpPr>
        <p:spPr>
          <a:xfrm>
            <a:off x="719975" y="1379900"/>
            <a:ext cx="2976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Crie Elementos Visuais</a:t>
            </a:r>
            <a:endParaRPr/>
          </a:p>
        </p:txBody>
      </p:sp>
      <p:pic>
        <p:nvPicPr>
          <p:cNvPr id="256" name="Google Shape;25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275" y="1379900"/>
            <a:ext cx="4855464" cy="273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06/11/2025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34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Assistente de IA</a:t>
            </a:r>
            <a:endParaRPr/>
          </a:p>
        </p:txBody>
      </p:sp>
      <p:sp>
        <p:nvSpPr>
          <p:cNvPr id="265" name="Google Shape;265;p34"/>
          <p:cNvSpPr txBox="1"/>
          <p:nvPr>
            <p:ph idx="2" type="subTitle"/>
          </p:nvPr>
        </p:nvSpPr>
        <p:spPr>
          <a:xfrm>
            <a:off x="719975" y="1734775"/>
            <a:ext cx="2976300" cy="28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Abra o chat e pergunte: "Qual o valor médio das notas em São Paulo no mês de Novembro de 2025?". O sistema entende, consulta os dados e gera a resposta, inclusive com elementos visuais.</a:t>
            </a:r>
            <a:endParaRPr sz="1400"/>
          </a:p>
        </p:txBody>
      </p:sp>
      <p:sp>
        <p:nvSpPr>
          <p:cNvPr id="266" name="Google Shape;266;p34"/>
          <p:cNvSpPr txBox="1"/>
          <p:nvPr>
            <p:ph idx="3" type="subTitle"/>
          </p:nvPr>
        </p:nvSpPr>
        <p:spPr>
          <a:xfrm>
            <a:off x="719975" y="1379900"/>
            <a:ext cx="2976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Faça Perguntas</a:t>
            </a:r>
            <a:endParaRPr/>
          </a:p>
        </p:txBody>
      </p:sp>
      <p:pic>
        <p:nvPicPr>
          <p:cNvPr id="267" name="Google Shape;26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275" y="1379900"/>
            <a:ext cx="4855464" cy="273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06/11/2025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35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Um mercado vasto e em plena transformação digital</a:t>
            </a:r>
            <a:endParaRPr sz="2200"/>
          </a:p>
        </p:txBody>
      </p:sp>
      <p:sp>
        <p:nvSpPr>
          <p:cNvPr id="276" name="Google Shape;276;p35"/>
          <p:cNvSpPr txBox="1"/>
          <p:nvPr>
            <p:ph idx="2" type="title"/>
          </p:nvPr>
        </p:nvSpPr>
        <p:spPr>
          <a:xfrm>
            <a:off x="722375" y="984100"/>
            <a:ext cx="75750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Valor de Mercado</a:t>
            </a:r>
            <a:endParaRPr/>
          </a:p>
        </p:txBody>
      </p:sp>
      <p:sp>
        <p:nvSpPr>
          <p:cNvPr id="277" name="Google Shape;277;p35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necessidade de otimização fiscal nunca foi tão alta.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Números do Mercado:</a:t>
            </a:r>
            <a:endParaRPr/>
          </a:p>
        </p:txBody>
      </p:sp>
      <p:sp>
        <p:nvSpPr>
          <p:cNvPr id="283" name="Google Shape;283;p36"/>
          <p:cNvSpPr txBox="1"/>
          <p:nvPr/>
        </p:nvSpPr>
        <p:spPr>
          <a:xfrm>
            <a:off x="4313330" y="1299838"/>
            <a:ext cx="139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R$ 15 Bi</a:t>
            </a:r>
            <a:endParaRPr sz="16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84" name="Google Shape;284;p36"/>
          <p:cNvSpPr txBox="1"/>
          <p:nvPr/>
        </p:nvSpPr>
        <p:spPr>
          <a:xfrm>
            <a:off x="5670863" y="1299838"/>
            <a:ext cx="139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100.676 un.</a:t>
            </a:r>
            <a:endParaRPr sz="16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85" name="Google Shape;285;p36"/>
          <p:cNvSpPr txBox="1"/>
          <p:nvPr/>
        </p:nvSpPr>
        <p:spPr>
          <a:xfrm>
            <a:off x="7028397" y="1299838"/>
            <a:ext cx="139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5.000</a:t>
            </a:r>
            <a:r>
              <a:rPr lang="en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un.</a:t>
            </a:r>
            <a:endParaRPr sz="16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4313330" y="1654738"/>
            <a:ext cx="139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36"/>
          <p:cNvSpPr txBox="1"/>
          <p:nvPr/>
        </p:nvSpPr>
        <p:spPr>
          <a:xfrm>
            <a:off x="5670863" y="1654738"/>
            <a:ext cx="139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36"/>
          <p:cNvSpPr txBox="1"/>
          <p:nvPr/>
        </p:nvSpPr>
        <p:spPr>
          <a:xfrm>
            <a:off x="7028397" y="1654738"/>
            <a:ext cx="139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36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36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36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2" name="Google Shape;292;p3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100" y="2176438"/>
            <a:ext cx="4392846" cy="206036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6"/>
          <p:cNvSpPr txBox="1"/>
          <p:nvPr/>
        </p:nvSpPr>
        <p:spPr>
          <a:xfrm>
            <a:off x="713225" y="1400875"/>
            <a:ext cx="36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Mercado Total Endereçável (TAM):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Mercado brasileiro de software de gestão (ERP) e fiscal.</a:t>
            </a:r>
            <a:endParaRPr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94" name="Google Shape;294;p36"/>
          <p:cNvSpPr txBox="1"/>
          <p:nvPr/>
        </p:nvSpPr>
        <p:spPr>
          <a:xfrm>
            <a:off x="713225" y="2472450"/>
            <a:ext cx="36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Mercado Endereçável e Acessível (SAM):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Organizações Contábeis no Brasil que atendem milhões de PMEs e precisam de ferramentas eficientes.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36"/>
          <p:cNvSpPr txBox="1"/>
          <p:nvPr/>
        </p:nvSpPr>
        <p:spPr>
          <a:xfrm>
            <a:off x="713225" y="3544025"/>
            <a:ext cx="36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Mercado Obtível (SOM):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Nosso foco inicial são 5.000 escritórios de contabilidade e PMEs que buscam uma solução de BI fiscal moderna e acessível.</a:t>
            </a:r>
            <a:endParaRPr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7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37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06/11/2025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37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37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Modelo SaaS (S</a:t>
            </a:r>
            <a:r>
              <a:rPr lang="en" sz="2200"/>
              <a:t>oftware as a Service) Freemium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04" name="Google Shape;304;p37"/>
          <p:cNvSpPr txBox="1"/>
          <p:nvPr>
            <p:ph idx="2" type="title"/>
          </p:nvPr>
        </p:nvSpPr>
        <p:spPr>
          <a:xfrm>
            <a:off x="722375" y="984100"/>
            <a:ext cx="75750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Modelo de Negócio</a:t>
            </a:r>
            <a:endParaRPr/>
          </a:p>
        </p:txBody>
      </p:sp>
      <p:sp>
        <p:nvSpPr>
          <p:cNvPr id="305" name="Google Shape;305;p37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A</a:t>
            </a: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cessível, escalável e focado em gerar valor contínuo.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38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Nossos 3 Planos e Preços:</a:t>
            </a:r>
            <a:endParaRPr/>
          </a:p>
        </p:txBody>
      </p:sp>
      <p:graphicFrame>
        <p:nvGraphicFramePr>
          <p:cNvPr id="314" name="Google Shape;314;p38"/>
          <p:cNvGraphicFramePr/>
          <p:nvPr/>
        </p:nvGraphicFramePr>
        <p:xfrm>
          <a:off x="720000" y="177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{757786EF-5D8B-46F0-B9CE-F3F2B4F094A5}</a:tableStyleId>
              </a:tblPr>
              <a:tblGrid>
                <a:gridCol w="2481375"/>
                <a:gridCol w="2748725"/>
                <a:gridCol w="2473900"/>
              </a:tblGrid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Plano Básico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(Freemium)</a:t>
                      </a:r>
                      <a:endParaRPr u="sng">
                        <a:solidFill>
                          <a:srgbClr val="000000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Plano Profissional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Plano Enterprise</a:t>
                      </a:r>
                      <a:endParaRPr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Grátis</a:t>
                      </a:r>
                      <a:endParaRPr sz="1300">
                        <a:solidFill>
                          <a:srgbClr val="000000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R$ 19,90/mês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Sob Consulta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Processamento de até 500 NF-e/mês</a:t>
                      </a:r>
                      <a:endParaRPr sz="1300">
                        <a:solidFill>
                          <a:srgbClr val="000000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Processamento de até 10.000 NF-e/mês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Volume ilimitado de NF-e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Dashboards Padrão</a:t>
                      </a:r>
                      <a:endParaRPr sz="1300">
                        <a:solidFill>
                          <a:srgbClr val="000000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Dashboards Personalizáveis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Agente de Auditoria Fiscal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Assistente de IA (básico)</a:t>
                      </a:r>
                      <a:endParaRPr sz="1300">
                        <a:solidFill>
                          <a:srgbClr val="000000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Assistente de IA (avançado)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Integração com ERPs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06/11/2025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39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39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Estratégia focada em quem mais precisa: contadores e PMEs.</a:t>
            </a:r>
            <a:endParaRPr sz="2200"/>
          </a:p>
        </p:txBody>
      </p:sp>
      <p:sp>
        <p:nvSpPr>
          <p:cNvPr id="323" name="Google Shape;323;p39"/>
          <p:cNvSpPr txBox="1"/>
          <p:nvPr>
            <p:ph idx="2" type="title"/>
          </p:nvPr>
        </p:nvSpPr>
        <p:spPr>
          <a:xfrm>
            <a:off x="722375" y="984100"/>
            <a:ext cx="75750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Adoção de Mercado</a:t>
            </a:r>
            <a:endParaRPr/>
          </a:p>
        </p:txBody>
      </p:sp>
      <p:sp>
        <p:nvSpPr>
          <p:cNvPr id="324" name="Google Shape;324;p39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0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40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Nossas 3 Estratégias:</a:t>
            </a:r>
            <a:endParaRPr/>
          </a:p>
        </p:txBody>
      </p:sp>
      <p:sp>
        <p:nvSpPr>
          <p:cNvPr id="333" name="Google Shape;333;p40"/>
          <p:cNvSpPr txBox="1"/>
          <p:nvPr>
            <p:ph idx="4" type="subTitle"/>
          </p:nvPr>
        </p:nvSpPr>
        <p:spPr>
          <a:xfrm>
            <a:off x="71322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Parcerias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Estratégicas</a:t>
            </a:r>
            <a:endParaRPr/>
          </a:p>
        </p:txBody>
      </p:sp>
      <p:sp>
        <p:nvSpPr>
          <p:cNvPr id="334" name="Google Shape;334;p40"/>
          <p:cNvSpPr txBox="1"/>
          <p:nvPr>
            <p:ph idx="5" type="subTitle"/>
          </p:nvPr>
        </p:nvSpPr>
        <p:spPr>
          <a:xfrm>
            <a:off x="3319390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Conteúdo</a:t>
            </a:r>
            <a:endParaRPr/>
          </a:p>
        </p:txBody>
      </p:sp>
      <p:sp>
        <p:nvSpPr>
          <p:cNvPr id="335" name="Google Shape;335;p40"/>
          <p:cNvSpPr txBox="1"/>
          <p:nvPr>
            <p:ph idx="1" type="subTitle"/>
          </p:nvPr>
        </p:nvSpPr>
        <p:spPr>
          <a:xfrm>
            <a:off x="71322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Alianças com escritórios de contabilidade para que ofereçam nossa plataforma como um diferencial para seus clientes.</a:t>
            </a:r>
            <a:endParaRPr sz="1400"/>
          </a:p>
        </p:txBody>
      </p:sp>
      <p:sp>
        <p:nvSpPr>
          <p:cNvPr id="336" name="Google Shape;336;p40"/>
          <p:cNvSpPr txBox="1"/>
          <p:nvPr>
            <p:ph idx="2" type="subTitle"/>
          </p:nvPr>
        </p:nvSpPr>
        <p:spPr>
          <a:xfrm>
            <a:off x="3319390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Criar artigos, webinars e guias sobre eficiência fiscal e a nova reforma tributária, posicionando nossa marca como autoridade no assunto.</a:t>
            </a:r>
            <a:endParaRPr sz="1300"/>
          </a:p>
        </p:txBody>
      </p:sp>
      <p:sp>
        <p:nvSpPr>
          <p:cNvPr id="337" name="Google Shape;337;p40"/>
          <p:cNvSpPr txBox="1"/>
          <p:nvPr>
            <p:ph idx="3" type="subTitle"/>
          </p:nvPr>
        </p:nvSpPr>
        <p:spPr>
          <a:xfrm>
            <a:off x="592555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Permitir que empresas testem o poder da nossa ferramenta gratuitamente, criando uma base de usuários sólida para conversão em planos pagos.</a:t>
            </a:r>
            <a:endParaRPr sz="1400"/>
          </a:p>
        </p:txBody>
      </p:sp>
      <p:sp>
        <p:nvSpPr>
          <p:cNvPr id="338" name="Google Shape;338;p40"/>
          <p:cNvSpPr txBox="1"/>
          <p:nvPr>
            <p:ph idx="6" type="subTitle"/>
          </p:nvPr>
        </p:nvSpPr>
        <p:spPr>
          <a:xfrm>
            <a:off x="592555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Freemium</a:t>
            </a:r>
            <a:endParaRPr/>
          </a:p>
        </p:txBody>
      </p:sp>
      <p:sp>
        <p:nvSpPr>
          <p:cNvPr id="339" name="Google Shape;339;p40"/>
          <p:cNvSpPr txBox="1"/>
          <p:nvPr>
            <p:ph idx="7" type="title"/>
          </p:nvPr>
        </p:nvSpPr>
        <p:spPr>
          <a:xfrm>
            <a:off x="3319390" y="1556080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340" name="Google Shape;340;p40"/>
          <p:cNvSpPr txBox="1"/>
          <p:nvPr>
            <p:ph idx="8" type="title"/>
          </p:nvPr>
        </p:nvSpPr>
        <p:spPr>
          <a:xfrm>
            <a:off x="713225" y="1556083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341" name="Google Shape;341;p40"/>
          <p:cNvSpPr txBox="1"/>
          <p:nvPr>
            <p:ph idx="9" type="title"/>
          </p:nvPr>
        </p:nvSpPr>
        <p:spPr>
          <a:xfrm>
            <a:off x="5925555" y="1556080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1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41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06/11/2025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41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41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Destaque competitivo alcançado com ideias chave em oportunidades de mercado</a:t>
            </a:r>
            <a:endParaRPr sz="2200"/>
          </a:p>
        </p:txBody>
      </p:sp>
      <p:sp>
        <p:nvSpPr>
          <p:cNvPr id="350" name="Google Shape;350;p41"/>
          <p:cNvSpPr txBox="1"/>
          <p:nvPr>
            <p:ph idx="2" type="title"/>
          </p:nvPr>
        </p:nvSpPr>
        <p:spPr>
          <a:xfrm>
            <a:off x="722375" y="984100"/>
            <a:ext cx="75750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Vantagens Competitivas</a:t>
            </a:r>
            <a:endParaRPr/>
          </a:p>
        </p:txBody>
      </p:sp>
      <p:sp>
        <p:nvSpPr>
          <p:cNvPr id="351" name="Google Shape;351;p41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42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42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42"/>
          <p:cNvSpPr txBox="1"/>
          <p:nvPr>
            <p:ph idx="6" type="subTitle"/>
          </p:nvPr>
        </p:nvSpPr>
        <p:spPr>
          <a:xfrm>
            <a:off x="713236" y="2857000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Experiência de Usuário Inovadora</a:t>
            </a:r>
            <a:endParaRPr/>
          </a:p>
        </p:txBody>
      </p:sp>
      <p:sp>
        <p:nvSpPr>
          <p:cNvPr id="360" name="Google Shape;360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que somos diferentes?</a:t>
            </a:r>
            <a:endParaRPr/>
          </a:p>
        </p:txBody>
      </p:sp>
      <p:sp>
        <p:nvSpPr>
          <p:cNvPr id="361" name="Google Shape;361;p42"/>
          <p:cNvSpPr txBox="1"/>
          <p:nvPr>
            <p:ph idx="1" type="subTitle"/>
          </p:nvPr>
        </p:nvSpPr>
        <p:spPr>
          <a:xfrm>
            <a:off x="713236" y="1841263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Mais inteligente, flexível e escalável que soluções monolíticas. Nosso sistema “pensa” de forma especializada</a:t>
            </a:r>
            <a:endParaRPr sz="1300"/>
          </a:p>
        </p:txBody>
      </p:sp>
      <p:sp>
        <p:nvSpPr>
          <p:cNvPr id="362" name="Google Shape;362;p42"/>
          <p:cNvSpPr txBox="1"/>
          <p:nvPr>
            <p:ph idx="2" type="subTitle"/>
          </p:nvPr>
        </p:nvSpPr>
        <p:spPr>
          <a:xfrm>
            <a:off x="4398464" y="1841263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Nossas ferramentas são projetadas para a tomada de decisão estratégica, não apenas para a conformidade fiscal</a:t>
            </a:r>
            <a:endParaRPr sz="1300"/>
          </a:p>
        </p:txBody>
      </p:sp>
      <p:sp>
        <p:nvSpPr>
          <p:cNvPr id="363" name="Google Shape;363;p42"/>
          <p:cNvSpPr txBox="1"/>
          <p:nvPr>
            <p:ph idx="3" type="subTitle"/>
          </p:nvPr>
        </p:nvSpPr>
        <p:spPr>
          <a:xfrm>
            <a:off x="713236" y="3457887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Em nossa análise, não foi identificado nenhum concorrente que permita ao gestor "conversar" com seus dados fiscais.</a:t>
            </a:r>
            <a:endParaRPr sz="1300"/>
          </a:p>
        </p:txBody>
      </p:sp>
      <p:sp>
        <p:nvSpPr>
          <p:cNvPr id="364" name="Google Shape;364;p42"/>
          <p:cNvSpPr txBox="1"/>
          <p:nvPr>
            <p:ph idx="4" type="subTitle"/>
          </p:nvPr>
        </p:nvSpPr>
        <p:spPr>
          <a:xfrm>
            <a:off x="4398464" y="3457887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Nós a</a:t>
            </a:r>
            <a:r>
              <a:rPr lang="en" sz="1300"/>
              <a:t>creditamos o</a:t>
            </a:r>
            <a:r>
              <a:rPr lang="en" sz="1300"/>
              <a:t>ferecer o poder de análise de um ERP de ponta por uma fração do preço</a:t>
            </a:r>
            <a:endParaRPr sz="1300"/>
          </a:p>
        </p:txBody>
      </p:sp>
      <p:sp>
        <p:nvSpPr>
          <p:cNvPr id="365" name="Google Shape;365;p42"/>
          <p:cNvSpPr txBox="1"/>
          <p:nvPr>
            <p:ph idx="5" type="subTitle"/>
          </p:nvPr>
        </p:nvSpPr>
        <p:spPr>
          <a:xfrm>
            <a:off x="713236" y="1240363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Arquitetura de</a:t>
            </a:r>
            <a:br>
              <a:rPr lang="en"/>
            </a:br>
            <a:r>
              <a:rPr lang="en"/>
              <a:t>IA Multiagentes</a:t>
            </a:r>
            <a:endParaRPr/>
          </a:p>
        </p:txBody>
      </p:sp>
      <p:sp>
        <p:nvSpPr>
          <p:cNvPr id="366" name="Google Shape;366;p42"/>
          <p:cNvSpPr txBox="1"/>
          <p:nvPr>
            <p:ph idx="7" type="subTitle"/>
          </p:nvPr>
        </p:nvSpPr>
        <p:spPr>
          <a:xfrm>
            <a:off x="4398441" y="1240363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Foco no Gestor (Não Apenas no Contador)</a:t>
            </a:r>
            <a:endParaRPr/>
          </a:p>
        </p:txBody>
      </p:sp>
      <p:sp>
        <p:nvSpPr>
          <p:cNvPr id="367" name="Google Shape;367;p42"/>
          <p:cNvSpPr txBox="1"/>
          <p:nvPr>
            <p:ph idx="8" type="subTitle"/>
          </p:nvPr>
        </p:nvSpPr>
        <p:spPr>
          <a:xfrm>
            <a:off x="4398441" y="2857000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usto-Benefício Superior Comparado ao Mercado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3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43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06/11/2025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43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43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Nossa visão é criar um ecossistema fiscal completo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76" name="Google Shape;376;p43"/>
          <p:cNvSpPr txBox="1"/>
          <p:nvPr>
            <p:ph idx="2" type="title"/>
          </p:nvPr>
        </p:nvSpPr>
        <p:spPr>
          <a:xfrm>
            <a:off x="722375" y="984100"/>
            <a:ext cx="75750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Próximos Passos</a:t>
            </a:r>
            <a:endParaRPr/>
          </a:p>
        </p:txBody>
      </p:sp>
      <p:sp>
        <p:nvSpPr>
          <p:cNvPr id="377" name="Google Shape;377;p43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Próximos passos</a:t>
            </a:r>
            <a:endParaRPr/>
          </a:p>
        </p:txBody>
      </p:sp>
      <p:graphicFrame>
        <p:nvGraphicFramePr>
          <p:cNvPr id="383" name="Google Shape;383;p44"/>
          <p:cNvGraphicFramePr/>
          <p:nvPr/>
        </p:nvGraphicFramePr>
        <p:xfrm>
          <a:off x="720000" y="1224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{2F1C71B8-990C-4BB1-8A3A-F93FCA16436E}</a:tableStyleId>
              </a:tblPr>
              <a:tblGrid>
                <a:gridCol w="954500"/>
                <a:gridCol w="95450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  <a:gridCol w="241450"/>
              </a:tblGrid>
              <a:tr h="44185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Iniciativas</a:t>
                      </a:r>
                      <a:endParaRPr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Q1 2026</a:t>
                      </a:r>
                      <a:endParaRPr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Q2 2026</a:t>
                      </a:r>
                      <a:endParaRPr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Q3 2026</a:t>
                      </a:r>
                      <a:endParaRPr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2027</a:t>
                      </a:r>
                      <a:endParaRPr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08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Lançamento do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Módulo de Processamento de XML e PDF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 OCR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8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Implementação do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Agente de Auditoria Fiscal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para detecção proativa de inconsistências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8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Desenvolvimento de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Conectores para Integração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com os principais ERPs do mercado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384" name="Google Shape;384;p44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44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/11/2025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44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44"/>
          <p:cNvSpPr txBox="1"/>
          <p:nvPr>
            <p:ph idx="4294967295" type="subTitle"/>
          </p:nvPr>
        </p:nvSpPr>
        <p:spPr>
          <a:xfrm>
            <a:off x="719851" y="4112150"/>
            <a:ext cx="7704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2028+: Visão de Longo Prazo - </a:t>
            </a:r>
            <a:r>
              <a:rPr lang="en"/>
              <a:t>Evolução da plataforma com modelos de </a:t>
            </a:r>
            <a:r>
              <a:rPr b="1" lang="en"/>
              <a:t>Machine Learning</a:t>
            </a:r>
            <a:r>
              <a:rPr lang="en"/>
              <a:t> para antecipar o futuro: de previsão de faturamento a otimização de impostos.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5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NF-e com 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45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06/11/2025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45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Grupo SIA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45"/>
          <p:cNvSpPr txBox="1"/>
          <p:nvPr>
            <p:ph type="title"/>
          </p:nvPr>
        </p:nvSpPr>
        <p:spPr>
          <a:xfrm>
            <a:off x="713225" y="539506"/>
            <a:ext cx="4448100" cy="95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Obrigado!</a:t>
            </a:r>
            <a:endParaRPr sz="5000"/>
          </a:p>
        </p:txBody>
      </p:sp>
      <p:sp>
        <p:nvSpPr>
          <p:cNvPr id="396" name="Google Shape;396;p45"/>
          <p:cNvSpPr txBox="1"/>
          <p:nvPr>
            <p:ph idx="4294967295" type="subTitle"/>
          </p:nvPr>
        </p:nvSpPr>
        <p:spPr>
          <a:xfrm>
            <a:off x="713225" y="1423672"/>
            <a:ext cx="44481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Grupo SIA | Ícaro Ribeiro</a:t>
            </a:r>
            <a:endParaRPr b="1"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icaroribeiro@hotmail.com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https://www.linkedin.com/in/icaroribeiro</a:t>
            </a: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6"/>
          <p:cNvSpPr txBox="1"/>
          <p:nvPr>
            <p:ph type="title"/>
          </p:nvPr>
        </p:nvSpPr>
        <p:spPr>
          <a:xfrm>
            <a:off x="713225" y="539506"/>
            <a:ext cx="4448100" cy="95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402" name="Google Shape;402;p46"/>
          <p:cNvSpPr txBox="1"/>
          <p:nvPr>
            <p:ph idx="1" type="subTitle"/>
          </p:nvPr>
        </p:nvSpPr>
        <p:spPr>
          <a:xfrm>
            <a:off x="713225" y="1423672"/>
            <a:ext cx="44481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Do you have any questions?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youremail@freepik.com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+34 654 321 432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yourwebsite.com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3" name="Google Shape;403;p46"/>
          <p:cNvSpPr txBox="1"/>
          <p:nvPr/>
        </p:nvSpPr>
        <p:spPr>
          <a:xfrm>
            <a:off x="713225" y="3908194"/>
            <a:ext cx="41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Please keep this slide for attribution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46"/>
          <p:cNvSpPr/>
          <p:nvPr/>
        </p:nvSpPr>
        <p:spPr>
          <a:xfrm>
            <a:off x="749169" y="2673966"/>
            <a:ext cx="291347" cy="291669"/>
          </a:xfrm>
          <a:custGeom>
            <a:rect b="b" l="l" r="r" t="t"/>
            <a:pathLst>
              <a:path extrusionOk="0" h="10872" w="1086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5" name="Google Shape;405;p46"/>
          <p:cNvGrpSpPr/>
          <p:nvPr/>
        </p:nvGrpSpPr>
        <p:grpSpPr>
          <a:xfrm>
            <a:off x="1183178" y="2673494"/>
            <a:ext cx="288091" cy="292613"/>
            <a:chOff x="3303268" y="3817349"/>
            <a:chExt cx="346056" cy="345674"/>
          </a:xfrm>
        </p:grpSpPr>
        <p:sp>
          <p:nvSpPr>
            <p:cNvPr id="406" name="Google Shape;406;p46"/>
            <p:cNvSpPr/>
            <p:nvPr/>
          </p:nvSpPr>
          <p:spPr>
            <a:xfrm>
              <a:off x="3303268" y="3817349"/>
              <a:ext cx="346056" cy="345674"/>
            </a:xfrm>
            <a:custGeom>
              <a:rect b="b" l="l" r="r" t="t"/>
              <a:pathLst>
                <a:path extrusionOk="0" h="10860" w="10872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6"/>
            <p:cNvSpPr/>
            <p:nvPr/>
          </p:nvSpPr>
          <p:spPr>
            <a:xfrm>
              <a:off x="3368074" y="3882537"/>
              <a:ext cx="215298" cy="215298"/>
            </a:xfrm>
            <a:custGeom>
              <a:rect b="b" l="l" r="r" t="t"/>
              <a:pathLst>
                <a:path extrusionOk="0" h="6764" w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6"/>
            <p:cNvSpPr/>
            <p:nvPr/>
          </p:nvSpPr>
          <p:spPr>
            <a:xfrm>
              <a:off x="3418143" y="3933656"/>
              <a:ext cx="114811" cy="112742"/>
            </a:xfrm>
            <a:custGeom>
              <a:rect b="b" l="l" r="r" t="t"/>
              <a:pathLst>
                <a:path extrusionOk="0" h="3542" w="3607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6"/>
            <p:cNvSpPr/>
            <p:nvPr/>
          </p:nvSpPr>
          <p:spPr>
            <a:xfrm>
              <a:off x="3519298" y="3910197"/>
              <a:ext cx="29570" cy="29220"/>
            </a:xfrm>
            <a:custGeom>
              <a:rect b="b" l="l" r="r" t="t"/>
              <a:pathLst>
                <a:path extrusionOk="0" h="918" w="929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0" name="Google Shape;410;p46"/>
          <p:cNvGrpSpPr/>
          <p:nvPr/>
        </p:nvGrpSpPr>
        <p:grpSpPr>
          <a:xfrm>
            <a:off x="1625552" y="2673494"/>
            <a:ext cx="292625" cy="292613"/>
            <a:chOff x="3752358" y="3817349"/>
            <a:chExt cx="346056" cy="345674"/>
          </a:xfrm>
        </p:grpSpPr>
        <p:sp>
          <p:nvSpPr>
            <p:cNvPr id="411" name="Google Shape;411;p46"/>
            <p:cNvSpPr/>
            <p:nvPr/>
          </p:nvSpPr>
          <p:spPr>
            <a:xfrm>
              <a:off x="3752358" y="3817349"/>
              <a:ext cx="346056" cy="345674"/>
            </a:xfrm>
            <a:custGeom>
              <a:rect b="b" l="l" r="r" t="t"/>
              <a:pathLst>
                <a:path extrusionOk="0" h="10860" w="10872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6"/>
            <p:cNvSpPr/>
            <p:nvPr/>
          </p:nvSpPr>
          <p:spPr>
            <a:xfrm>
              <a:off x="3831933" y="3955682"/>
              <a:ext cx="47809" cy="120540"/>
            </a:xfrm>
            <a:custGeom>
              <a:rect b="b" l="l" r="r" t="t"/>
              <a:pathLst>
                <a:path extrusionOk="0" h="3787" w="1502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6"/>
            <p:cNvSpPr/>
            <p:nvPr/>
          </p:nvSpPr>
          <p:spPr>
            <a:xfrm>
              <a:off x="3824739" y="3890112"/>
              <a:ext cx="55002" cy="55002"/>
            </a:xfrm>
            <a:custGeom>
              <a:rect b="b" l="l" r="r" t="t"/>
              <a:pathLst>
                <a:path extrusionOk="0" h="1728" w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6"/>
            <p:cNvSpPr/>
            <p:nvPr/>
          </p:nvSpPr>
          <p:spPr>
            <a:xfrm>
              <a:off x="3904696" y="3955682"/>
              <a:ext cx="128148" cy="120540"/>
            </a:xfrm>
            <a:custGeom>
              <a:rect b="b" l="l" r="r" t="t"/>
              <a:pathLst>
                <a:path extrusionOk="0" h="3787" w="4026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5" name="Google Shape;415;p46"/>
          <p:cNvGrpSpPr/>
          <p:nvPr/>
        </p:nvGrpSpPr>
        <p:grpSpPr>
          <a:xfrm>
            <a:off x="2055284" y="2673489"/>
            <a:ext cx="292620" cy="292623"/>
            <a:chOff x="8145888" y="2870792"/>
            <a:chExt cx="292620" cy="292623"/>
          </a:xfrm>
        </p:grpSpPr>
        <p:sp>
          <p:nvSpPr>
            <p:cNvPr id="416" name="Google Shape;416;p46"/>
            <p:cNvSpPr/>
            <p:nvPr/>
          </p:nvSpPr>
          <p:spPr>
            <a:xfrm>
              <a:off x="8211186" y="2934325"/>
              <a:ext cx="162023" cy="165580"/>
            </a:xfrm>
            <a:custGeom>
              <a:rect b="b" l="l" r="r" t="t"/>
              <a:pathLst>
                <a:path extrusionOk="0" h="505587" w="494728">
                  <a:moveTo>
                    <a:pt x="294418" y="214122"/>
                  </a:moveTo>
                  <a:lnTo>
                    <a:pt x="478631" y="0"/>
                  </a:lnTo>
                  <a:lnTo>
                    <a:pt x="435007" y="0"/>
                  </a:lnTo>
                  <a:lnTo>
                    <a:pt x="275082" y="185928"/>
                  </a:lnTo>
                  <a:lnTo>
                    <a:pt x="147352" y="0"/>
                  </a:lnTo>
                  <a:lnTo>
                    <a:pt x="0" y="0"/>
                  </a:lnTo>
                  <a:lnTo>
                    <a:pt x="193167" y="281083"/>
                  </a:lnTo>
                  <a:lnTo>
                    <a:pt x="0" y="505587"/>
                  </a:lnTo>
                  <a:lnTo>
                    <a:pt x="43625" y="505587"/>
                  </a:lnTo>
                  <a:lnTo>
                    <a:pt x="212503" y="309277"/>
                  </a:lnTo>
                  <a:lnTo>
                    <a:pt x="347377" y="505587"/>
                  </a:lnTo>
                  <a:lnTo>
                    <a:pt x="494729" y="505587"/>
                  </a:lnTo>
                  <a:lnTo>
                    <a:pt x="294418" y="214027"/>
                  </a:lnTo>
                  <a:lnTo>
                    <a:pt x="294418" y="214027"/>
                  </a:lnTo>
                  <a:close/>
                  <a:moveTo>
                    <a:pt x="234601" y="283655"/>
                  </a:moveTo>
                  <a:lnTo>
                    <a:pt x="215075" y="255651"/>
                  </a:lnTo>
                  <a:lnTo>
                    <a:pt x="59341" y="32861"/>
                  </a:lnTo>
                  <a:lnTo>
                    <a:pt x="126397" y="32861"/>
                  </a:lnTo>
                  <a:lnTo>
                    <a:pt x="252032" y="212598"/>
                  </a:lnTo>
                  <a:lnTo>
                    <a:pt x="271558" y="240601"/>
                  </a:lnTo>
                  <a:lnTo>
                    <a:pt x="434912" y="474250"/>
                  </a:lnTo>
                  <a:lnTo>
                    <a:pt x="367855" y="474250"/>
                  </a:lnTo>
                  <a:lnTo>
                    <a:pt x="234505" y="283559"/>
                  </a:lnTo>
                  <a:lnTo>
                    <a:pt x="234505" y="28355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46"/>
            <p:cNvSpPr/>
            <p:nvPr/>
          </p:nvSpPr>
          <p:spPr>
            <a:xfrm>
              <a:off x="8145888" y="2870792"/>
              <a:ext cx="292620" cy="292623"/>
            </a:xfrm>
            <a:custGeom>
              <a:rect b="b" l="l" r="r" t="t"/>
              <a:pathLst>
                <a:path extrusionOk="0" h="10860" w="10872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8" name="Google Shape;418;p46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Feature Name/Product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46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DD/MM/YYYY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46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Pitch Deck by Slidesgo">
  <a:themeElements>
    <a:clrScheme name="Simple Light">
      <a:dk1>
        <a:srgbClr val="000000"/>
      </a:dk1>
      <a:lt1>
        <a:srgbClr val="EFEE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FEEE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