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  <p:embeddedFont>
      <p:font typeface="Roboto Medium"/>
      <p:regular r:id="rId35"/>
      <p:bold r:id="rId36"/>
      <p:italic r:id="rId37"/>
      <p:boldItalic r:id="rId38"/>
    </p:embeddedFont>
    <p:embeddedFont>
      <p:font typeface="Inter"/>
      <p:regular r:id="rId39"/>
      <p:bold r:id="rId40"/>
      <p:italic r:id="rId41"/>
      <p:boldItalic r:id="rId42"/>
    </p:embeddedFont>
    <p:embeddedFont>
      <p:font typeface="PT Sans"/>
      <p:regular r:id="rId43"/>
      <p:bold r:id="rId44"/>
      <p:italic r:id="rId45"/>
      <p:boldItalic r:id="rId46"/>
    </p:embeddedFont>
    <p:embeddedFont>
      <p:font typeface="Inter Medium"/>
      <p:regular r:id="rId47"/>
      <p:bold r:id="rId48"/>
      <p:italic r:id="rId49"/>
      <p:boldItalic r:id="rId50"/>
    </p:embeddedFont>
    <p:embeddedFont>
      <p:font typeface="Open Sans"/>
      <p:regular r:id="rId51"/>
      <p:bold r:id="rId52"/>
      <p:italic r:id="rId53"/>
      <p:boldItalic r:id="rId5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297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9D1308-345A-421A-9E02-396EEAEEFB33}">
  <a:tblStyle styleId="{AE9D1308-345A-421A-9E02-396EEAEEFB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1956437-BD61-44E9-9959-3B7B5E1DDDC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2976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bold.fntdata"/><Relationship Id="rId42" Type="http://schemas.openxmlformats.org/officeDocument/2006/relationships/font" Target="fonts/Inter-boldItalic.fntdata"/><Relationship Id="rId41" Type="http://schemas.openxmlformats.org/officeDocument/2006/relationships/font" Target="fonts/Inter-italic.fntdata"/><Relationship Id="rId44" Type="http://schemas.openxmlformats.org/officeDocument/2006/relationships/font" Target="fonts/PTSans-bold.fntdata"/><Relationship Id="rId43" Type="http://schemas.openxmlformats.org/officeDocument/2006/relationships/font" Target="fonts/PTSans-regular.fntdata"/><Relationship Id="rId46" Type="http://schemas.openxmlformats.org/officeDocument/2006/relationships/font" Target="fonts/PTSans-boldItalic.fntdata"/><Relationship Id="rId45" Type="http://schemas.openxmlformats.org/officeDocument/2006/relationships/font" Target="fonts/PTSans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InterMedium-bold.fntdata"/><Relationship Id="rId47" Type="http://schemas.openxmlformats.org/officeDocument/2006/relationships/font" Target="fonts/InterMedium-regular.fntdata"/><Relationship Id="rId49" Type="http://schemas.openxmlformats.org/officeDocument/2006/relationships/font" Target="fonts/InterMedium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33" Type="http://schemas.openxmlformats.org/officeDocument/2006/relationships/font" Target="fonts/Roboto-italic.fntdata"/><Relationship Id="rId32" Type="http://schemas.openxmlformats.org/officeDocument/2006/relationships/font" Target="fonts/Roboto-bold.fntdata"/><Relationship Id="rId35" Type="http://schemas.openxmlformats.org/officeDocument/2006/relationships/font" Target="fonts/RobotoMedium-regular.fntdata"/><Relationship Id="rId34" Type="http://schemas.openxmlformats.org/officeDocument/2006/relationships/font" Target="fonts/Roboto-boldItalic.fntdata"/><Relationship Id="rId37" Type="http://schemas.openxmlformats.org/officeDocument/2006/relationships/font" Target="fonts/RobotoMedium-italic.fntdata"/><Relationship Id="rId36" Type="http://schemas.openxmlformats.org/officeDocument/2006/relationships/font" Target="fonts/RobotoMedium-bold.fntdata"/><Relationship Id="rId39" Type="http://schemas.openxmlformats.org/officeDocument/2006/relationships/font" Target="fonts/Inter-regular.fntdata"/><Relationship Id="rId38" Type="http://schemas.openxmlformats.org/officeDocument/2006/relationships/font" Target="fonts/RobotoMedium-boldItalic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OpenSans-regular.fntdata"/><Relationship Id="rId50" Type="http://schemas.openxmlformats.org/officeDocument/2006/relationships/font" Target="fonts/InterMedium-boldItalic.fntdata"/><Relationship Id="rId53" Type="http://schemas.openxmlformats.org/officeDocument/2006/relationships/font" Target="fonts/OpenSans-italic.fntdata"/><Relationship Id="rId52" Type="http://schemas.openxmlformats.org/officeDocument/2006/relationships/font" Target="fonts/OpenSans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54" Type="http://schemas.openxmlformats.org/officeDocument/2006/relationships/font" Target="fonts/OpenSans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48300ce30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48300ce30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f8a0fb765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9f8a0fb765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d1cda8c53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9d1cda8c53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9d1cda8c53_0_2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9d1cda8c53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9d1cda8c53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9d1cda8c53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d1cda8c53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9d1cda8c53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d1cda8c53_0_2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d1cda8c53_0_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54dda1946d_6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54dda1946d_6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9f3954b365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9f3954b36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9f3954b365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9f3954b365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9d1cda8c53_0_5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9d1cda8c53_0_5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9d1cda8c53_0_5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9d1cda8c53_0_5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9d22f40a7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9d22f40a7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9d22f40a7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9d22f40a7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9d1cda8c53_0_3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9d1cda8c53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184d99d1a72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184d99d1a72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d1cda8c53_0_4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d1cda8c53_0_4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9d1cda8c53_0_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9d1cda8c53_0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9d1cda8c53_0_3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9d1cda8c53_0_3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9d1cda8c53_0_4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9d1cda8c53_0_4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9d1cda8c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9d1cda8c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9f8a0fb7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39f8a0fb7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9d22f40a72_0_3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39d22f40a72_0_3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d22f40a72_0_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d22f40a72_0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Google Shape;10;p2"/>
          <p:cNvSpPr txBox="1"/>
          <p:nvPr>
            <p:ph type="ctrTitle"/>
          </p:nvPr>
        </p:nvSpPr>
        <p:spPr>
          <a:xfrm>
            <a:off x="713225" y="1066800"/>
            <a:ext cx="5407800" cy="166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713226" y="3395547"/>
            <a:ext cx="63501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3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722376" y="984098"/>
            <a:ext cx="1235700" cy="877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720000" y="1210225"/>
            <a:ext cx="77040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" name="Google Shape;23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subTitle"/>
          </p:nvPr>
        </p:nvSpPr>
        <p:spPr>
          <a:xfrm>
            <a:off x="720000" y="3318362"/>
            <a:ext cx="46614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subTitle"/>
          </p:nvPr>
        </p:nvSpPr>
        <p:spPr>
          <a:xfrm>
            <a:off x="719975" y="1734787"/>
            <a:ext cx="46614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3" type="subTitle"/>
          </p:nvPr>
        </p:nvSpPr>
        <p:spPr>
          <a:xfrm>
            <a:off x="719975" y="1379888"/>
            <a:ext cx="46614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idx="4" type="subTitle"/>
          </p:nvPr>
        </p:nvSpPr>
        <p:spPr>
          <a:xfrm>
            <a:off x="719975" y="2963463"/>
            <a:ext cx="46614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8" name="Google Shape;28;p5"/>
          <p:cNvSpPr/>
          <p:nvPr>
            <p:ph idx="5" type="pic"/>
          </p:nvPr>
        </p:nvSpPr>
        <p:spPr>
          <a:xfrm>
            <a:off x="5696375" y="1379900"/>
            <a:ext cx="2727600" cy="2861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1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" name="Google Shape;31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dk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" name="Google Shape;34;p7"/>
          <p:cNvSpPr txBox="1"/>
          <p:nvPr>
            <p:ph type="title"/>
          </p:nvPr>
        </p:nvSpPr>
        <p:spPr>
          <a:xfrm>
            <a:off x="713225" y="448050"/>
            <a:ext cx="36813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subTitle"/>
          </p:nvPr>
        </p:nvSpPr>
        <p:spPr>
          <a:xfrm>
            <a:off x="713225" y="1744525"/>
            <a:ext cx="3681300" cy="216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36" name="Google Shape;36;p7"/>
          <p:cNvSpPr/>
          <p:nvPr>
            <p:ph idx="2" type="pic"/>
          </p:nvPr>
        </p:nvSpPr>
        <p:spPr>
          <a:xfrm>
            <a:off x="4709525" y="445775"/>
            <a:ext cx="3721200" cy="4251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9" name="Google Shape;49;p11"/>
          <p:cNvSpPr txBox="1"/>
          <p:nvPr>
            <p:ph hasCustomPrompt="1" type="title"/>
          </p:nvPr>
        </p:nvSpPr>
        <p:spPr>
          <a:xfrm>
            <a:off x="1284000" y="1288150"/>
            <a:ext cx="6576000" cy="1526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/>
          <p:nvPr>
            <p:ph idx="1" type="subTitle"/>
          </p:nvPr>
        </p:nvSpPr>
        <p:spPr>
          <a:xfrm>
            <a:off x="1284000" y="2901800"/>
            <a:ext cx="65760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4" name="Google Shape;54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hasCustomPrompt="1" idx="2" type="title"/>
          </p:nvPr>
        </p:nvSpPr>
        <p:spPr>
          <a:xfrm>
            <a:off x="713225" y="1400863"/>
            <a:ext cx="577800" cy="677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/>
          <p:nvPr>
            <p:ph hasCustomPrompt="1" idx="3" type="title"/>
          </p:nvPr>
        </p:nvSpPr>
        <p:spPr>
          <a:xfrm>
            <a:off x="4223200" y="1400840"/>
            <a:ext cx="576000" cy="677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/>
          <p:nvPr>
            <p:ph hasCustomPrompt="1" idx="4" type="title"/>
          </p:nvPr>
        </p:nvSpPr>
        <p:spPr>
          <a:xfrm>
            <a:off x="713225" y="2472438"/>
            <a:ext cx="577800" cy="677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/>
          <p:nvPr>
            <p:ph hasCustomPrompt="1" idx="5" type="title"/>
          </p:nvPr>
        </p:nvSpPr>
        <p:spPr>
          <a:xfrm>
            <a:off x="4223200" y="2472414"/>
            <a:ext cx="576000" cy="677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/>
          <p:nvPr>
            <p:ph hasCustomPrompt="1" idx="6" type="title"/>
          </p:nvPr>
        </p:nvSpPr>
        <p:spPr>
          <a:xfrm>
            <a:off x="713225" y="3544013"/>
            <a:ext cx="577800" cy="677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/>
          <p:nvPr>
            <p:ph hasCustomPrompt="1" idx="7" type="title"/>
          </p:nvPr>
        </p:nvSpPr>
        <p:spPr>
          <a:xfrm>
            <a:off x="4223200" y="3543989"/>
            <a:ext cx="576000" cy="677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/>
          <p:nvPr>
            <p:ph idx="1" type="subTitle"/>
          </p:nvPr>
        </p:nvSpPr>
        <p:spPr>
          <a:xfrm>
            <a:off x="1292489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8" type="subTitle"/>
          </p:nvPr>
        </p:nvSpPr>
        <p:spPr>
          <a:xfrm>
            <a:off x="1292489" y="2472433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3" name="Google Shape;63;p13"/>
          <p:cNvSpPr txBox="1"/>
          <p:nvPr>
            <p:ph idx="9" type="subTitle"/>
          </p:nvPr>
        </p:nvSpPr>
        <p:spPr>
          <a:xfrm>
            <a:off x="1292489" y="3544000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13" type="subTitle"/>
          </p:nvPr>
        </p:nvSpPr>
        <p:spPr>
          <a:xfrm>
            <a:off x="4799202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5" name="Google Shape;65;p13"/>
          <p:cNvSpPr txBox="1"/>
          <p:nvPr>
            <p:ph idx="14" type="subTitle"/>
          </p:nvPr>
        </p:nvSpPr>
        <p:spPr>
          <a:xfrm>
            <a:off x="4799202" y="2472431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6" name="Google Shape;66;p13"/>
          <p:cNvSpPr txBox="1"/>
          <p:nvPr>
            <p:ph idx="15" type="subTitle"/>
          </p:nvPr>
        </p:nvSpPr>
        <p:spPr>
          <a:xfrm>
            <a:off x="4799202" y="3543996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0">
    <p:bg>
      <p:bgPr>
        <a:solidFill>
          <a:schemeClr val="dk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9" name="Google Shape;69;p14"/>
          <p:cNvSpPr txBox="1"/>
          <p:nvPr>
            <p:ph idx="1" type="subTitle"/>
          </p:nvPr>
        </p:nvSpPr>
        <p:spPr>
          <a:xfrm>
            <a:off x="713225" y="1744525"/>
            <a:ext cx="3681300" cy="216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70" name="Google Shape;70;p14"/>
          <p:cNvSpPr txBox="1"/>
          <p:nvPr>
            <p:ph type="title"/>
          </p:nvPr>
        </p:nvSpPr>
        <p:spPr>
          <a:xfrm>
            <a:off x="713225" y="448050"/>
            <a:ext cx="36813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71" name="Google Shape;71;p14"/>
          <p:cNvSpPr/>
          <p:nvPr>
            <p:ph idx="2" type="pic"/>
          </p:nvPr>
        </p:nvSpPr>
        <p:spPr>
          <a:xfrm>
            <a:off x="4709525" y="445775"/>
            <a:ext cx="3721200" cy="42519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0_1">
    <p:bg>
      <p:bgPr>
        <a:solidFill>
          <a:schemeClr val="dk1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4" name="Google Shape;74;p15"/>
          <p:cNvSpPr txBox="1"/>
          <p:nvPr>
            <p:ph type="title"/>
          </p:nvPr>
        </p:nvSpPr>
        <p:spPr>
          <a:xfrm>
            <a:off x="713275" y="794675"/>
            <a:ext cx="7717500" cy="698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3488849" y="2398525"/>
            <a:ext cx="4941900" cy="195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bg>
      <p:bgPr>
        <a:solidFill>
          <a:schemeClr val="dk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8" name="Google Shape;78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1_1">
    <p:bg>
      <p:bgPr>
        <a:solidFill>
          <a:schemeClr val="dk1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bg>
      <p:bgPr>
        <a:solidFill>
          <a:schemeClr val="dk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4" name="Google Shape;84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71322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2" type="subTitle"/>
          </p:nvPr>
        </p:nvSpPr>
        <p:spPr>
          <a:xfrm>
            <a:off x="3319390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3" type="subTitle"/>
          </p:nvPr>
        </p:nvSpPr>
        <p:spPr>
          <a:xfrm>
            <a:off x="592555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4" type="subTitle"/>
          </p:nvPr>
        </p:nvSpPr>
        <p:spPr>
          <a:xfrm>
            <a:off x="71322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5" type="subTitle"/>
          </p:nvPr>
        </p:nvSpPr>
        <p:spPr>
          <a:xfrm>
            <a:off x="3319390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90" name="Google Shape;90;p18"/>
          <p:cNvSpPr txBox="1"/>
          <p:nvPr>
            <p:ph idx="6" type="subTitle"/>
          </p:nvPr>
        </p:nvSpPr>
        <p:spPr>
          <a:xfrm>
            <a:off x="592555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91" name="Google Shape;91;p18"/>
          <p:cNvSpPr txBox="1"/>
          <p:nvPr>
            <p:ph hasCustomPrompt="1" idx="7" type="title"/>
          </p:nvPr>
        </p:nvSpPr>
        <p:spPr>
          <a:xfrm>
            <a:off x="3319390" y="1556080"/>
            <a:ext cx="734700" cy="431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2" name="Google Shape;92;p18"/>
          <p:cNvSpPr txBox="1"/>
          <p:nvPr>
            <p:ph hasCustomPrompt="1" idx="8" type="title"/>
          </p:nvPr>
        </p:nvSpPr>
        <p:spPr>
          <a:xfrm>
            <a:off x="713225" y="1556083"/>
            <a:ext cx="734700" cy="431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8"/>
          <p:cNvSpPr txBox="1"/>
          <p:nvPr>
            <p:ph hasCustomPrompt="1" idx="9" type="title"/>
          </p:nvPr>
        </p:nvSpPr>
        <p:spPr>
          <a:xfrm>
            <a:off x="5925555" y="1556080"/>
            <a:ext cx="734700" cy="431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bg>
      <p:bgPr>
        <a:solidFill>
          <a:schemeClr val="dk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97" name="Google Shape;97;p19"/>
          <p:cNvSpPr txBox="1"/>
          <p:nvPr>
            <p:ph idx="1" type="subTitle"/>
          </p:nvPr>
        </p:nvSpPr>
        <p:spPr>
          <a:xfrm>
            <a:off x="713236" y="1841263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2" type="subTitle"/>
          </p:nvPr>
        </p:nvSpPr>
        <p:spPr>
          <a:xfrm>
            <a:off x="4398464" y="1841263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9" name="Google Shape;99;p19"/>
          <p:cNvSpPr txBox="1"/>
          <p:nvPr>
            <p:ph idx="3" type="subTitle"/>
          </p:nvPr>
        </p:nvSpPr>
        <p:spPr>
          <a:xfrm>
            <a:off x="713236" y="3457887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00" name="Google Shape;100;p19"/>
          <p:cNvSpPr txBox="1"/>
          <p:nvPr>
            <p:ph idx="4" type="subTitle"/>
          </p:nvPr>
        </p:nvSpPr>
        <p:spPr>
          <a:xfrm>
            <a:off x="4398464" y="3457887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5" type="subTitle"/>
          </p:nvPr>
        </p:nvSpPr>
        <p:spPr>
          <a:xfrm>
            <a:off x="713236" y="1240363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02" name="Google Shape;102;p19"/>
          <p:cNvSpPr txBox="1"/>
          <p:nvPr>
            <p:ph idx="6" type="subTitle"/>
          </p:nvPr>
        </p:nvSpPr>
        <p:spPr>
          <a:xfrm>
            <a:off x="713236" y="2857000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03" name="Google Shape;103;p19"/>
          <p:cNvSpPr txBox="1"/>
          <p:nvPr>
            <p:ph idx="7" type="subTitle"/>
          </p:nvPr>
        </p:nvSpPr>
        <p:spPr>
          <a:xfrm>
            <a:off x="4398441" y="1240363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04" name="Google Shape;104;p19"/>
          <p:cNvSpPr txBox="1"/>
          <p:nvPr>
            <p:ph idx="8" type="subTitle"/>
          </p:nvPr>
        </p:nvSpPr>
        <p:spPr>
          <a:xfrm>
            <a:off x="4398441" y="2857000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20"/>
          <p:cNvSpPr txBox="1"/>
          <p:nvPr>
            <p:ph hasCustomPrompt="1" type="title"/>
          </p:nvPr>
        </p:nvSpPr>
        <p:spPr>
          <a:xfrm>
            <a:off x="713213" y="1961151"/>
            <a:ext cx="3492600" cy="8004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20"/>
          <p:cNvSpPr txBox="1"/>
          <p:nvPr>
            <p:ph idx="1" type="subTitle"/>
          </p:nvPr>
        </p:nvSpPr>
        <p:spPr>
          <a:xfrm>
            <a:off x="713213" y="2685345"/>
            <a:ext cx="34926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09" name="Google Shape;109;p20"/>
          <p:cNvSpPr txBox="1"/>
          <p:nvPr>
            <p:ph hasCustomPrompt="1" idx="2" type="title"/>
          </p:nvPr>
        </p:nvSpPr>
        <p:spPr>
          <a:xfrm>
            <a:off x="713222" y="615705"/>
            <a:ext cx="5241300" cy="9543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0" name="Google Shape;110;p20"/>
          <p:cNvSpPr txBox="1"/>
          <p:nvPr>
            <p:ph idx="3" type="subTitle"/>
          </p:nvPr>
        </p:nvSpPr>
        <p:spPr>
          <a:xfrm>
            <a:off x="713222" y="1493803"/>
            <a:ext cx="52413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 sz="1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111" name="Google Shape;111;p20"/>
          <p:cNvSpPr txBox="1"/>
          <p:nvPr>
            <p:ph hasCustomPrompt="1" idx="4" type="title"/>
          </p:nvPr>
        </p:nvSpPr>
        <p:spPr>
          <a:xfrm>
            <a:off x="713213" y="3121801"/>
            <a:ext cx="3492600" cy="8004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2" name="Google Shape;112;p20"/>
          <p:cNvSpPr txBox="1"/>
          <p:nvPr>
            <p:ph idx="5" type="subTitle"/>
          </p:nvPr>
        </p:nvSpPr>
        <p:spPr>
          <a:xfrm>
            <a:off x="713213" y="3845995"/>
            <a:ext cx="34926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5" name="Google Shape;115;p21"/>
          <p:cNvSpPr txBox="1"/>
          <p:nvPr>
            <p:ph type="title"/>
          </p:nvPr>
        </p:nvSpPr>
        <p:spPr>
          <a:xfrm>
            <a:off x="713225" y="539506"/>
            <a:ext cx="4448100" cy="95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116" name="Google Shape;116;p21"/>
          <p:cNvSpPr txBox="1"/>
          <p:nvPr>
            <p:ph idx="1" type="subTitle"/>
          </p:nvPr>
        </p:nvSpPr>
        <p:spPr>
          <a:xfrm>
            <a:off x="713225" y="1423672"/>
            <a:ext cx="44481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7" name="Google Shape;117;p21"/>
          <p:cNvSpPr txBox="1"/>
          <p:nvPr/>
        </p:nvSpPr>
        <p:spPr>
          <a:xfrm>
            <a:off x="713225" y="3164478"/>
            <a:ext cx="3099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CREDITS:</a:t>
            </a: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This presentation template was created by </a:t>
            </a:r>
            <a:r>
              <a:rPr b="1" lang="en" sz="1000" u="sng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, and includes icons, infographics &amp; images by </a:t>
            </a:r>
            <a:r>
              <a:rPr b="1" lang="en" sz="1000" u="sng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b="1" sz="1000" u="sng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bg>
      <p:bgPr>
        <a:solidFill>
          <a:schemeClr val="dk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/>
          <p:nvPr/>
        </p:nvSpPr>
        <p:spPr>
          <a:xfrm flipH="1" rot="10800000">
            <a:off x="117900" y="119100"/>
            <a:ext cx="8908200" cy="4731900"/>
          </a:xfrm>
          <a:prstGeom prst="roundRect">
            <a:avLst>
              <a:gd fmla="val 177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Inter Medium"/>
              <a:buNone/>
              <a:defRPr sz="2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ww.linkedin.com/in/icaroribeiro" TargetMode="External"/><Relationship Id="rId4" Type="http://schemas.openxmlformats.org/officeDocument/2006/relationships/image" Target="../media/image2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ctrTitle"/>
          </p:nvPr>
        </p:nvSpPr>
        <p:spPr>
          <a:xfrm>
            <a:off x="713225" y="1066800"/>
            <a:ext cx="7087200" cy="166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Sistema de Gestão de NF-e com IA</a:t>
            </a:r>
            <a:br>
              <a:rPr lang="en"/>
            </a:br>
            <a:br>
              <a:rPr lang="en" sz="1600">
                <a:latin typeface="Roboto"/>
                <a:ea typeface="Roboto"/>
                <a:cs typeface="Roboto"/>
                <a:sym typeface="Roboto"/>
              </a:rPr>
            </a:br>
            <a:r>
              <a:rPr lang="en" sz="1800">
                <a:latin typeface="Inter"/>
                <a:ea typeface="Inter"/>
                <a:cs typeface="Inter"/>
                <a:sym typeface="Inter"/>
              </a:rPr>
              <a:t>Transformando Dados Fiscais em Vantagem Competitiva</a:t>
            </a:r>
            <a:endParaRPr sz="2200"/>
          </a:p>
        </p:txBody>
      </p:sp>
      <p:sp>
        <p:nvSpPr>
          <p:cNvPr id="127" name="Google Shape;127;p24"/>
          <p:cNvSpPr txBox="1"/>
          <p:nvPr>
            <p:ph idx="1" type="subTitle"/>
          </p:nvPr>
        </p:nvSpPr>
        <p:spPr>
          <a:xfrm>
            <a:off x="713225" y="3395550"/>
            <a:ext cx="72441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Grupo SIA (Soluções Inteligentes Autônomas)</a:t>
            </a:r>
            <a:br>
              <a:rPr b="1" lang="en"/>
            </a:br>
            <a:r>
              <a:rPr b="1" lang="en"/>
              <a:t>Projeto de Conclusão de Curso: Agentes Autônomos com Redes Generativas</a:t>
            </a:r>
            <a:br>
              <a:rPr b="1" lang="en"/>
            </a:br>
            <a:r>
              <a:rPr lang="en" sz="1300"/>
              <a:t>Apresentação para a Banca Examinadora Novembro de 2025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128" name="Google Shape;128;p24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" name="Google Shape;129;p24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" name="Google Shape;130;p24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" name="Google Shape;137;p25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Tabela de Conteúdo</a:t>
            </a:r>
            <a:endParaRPr/>
          </a:p>
        </p:txBody>
      </p:sp>
      <p:sp>
        <p:nvSpPr>
          <p:cNvPr id="139" name="Google Shape;139;p25"/>
          <p:cNvSpPr txBox="1"/>
          <p:nvPr>
            <p:ph idx="2" type="title"/>
          </p:nvPr>
        </p:nvSpPr>
        <p:spPr>
          <a:xfrm>
            <a:off x="713225" y="1400863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endParaRPr/>
          </a:p>
        </p:txBody>
      </p:sp>
      <p:sp>
        <p:nvSpPr>
          <p:cNvPr id="140" name="Google Shape;140;p25"/>
          <p:cNvSpPr txBox="1"/>
          <p:nvPr>
            <p:ph idx="3" type="title"/>
          </p:nvPr>
        </p:nvSpPr>
        <p:spPr>
          <a:xfrm>
            <a:off x="4223200" y="1400840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</a:t>
            </a:r>
            <a:endParaRPr/>
          </a:p>
        </p:txBody>
      </p:sp>
      <p:sp>
        <p:nvSpPr>
          <p:cNvPr id="141" name="Google Shape;141;p25"/>
          <p:cNvSpPr txBox="1"/>
          <p:nvPr>
            <p:ph idx="4" type="title"/>
          </p:nvPr>
        </p:nvSpPr>
        <p:spPr>
          <a:xfrm>
            <a:off x="713225" y="2133738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endParaRPr/>
          </a:p>
        </p:txBody>
      </p:sp>
      <p:sp>
        <p:nvSpPr>
          <p:cNvPr id="142" name="Google Shape;142;p25"/>
          <p:cNvSpPr txBox="1"/>
          <p:nvPr>
            <p:ph idx="5" type="title"/>
          </p:nvPr>
        </p:nvSpPr>
        <p:spPr>
          <a:xfrm>
            <a:off x="4223200" y="2866614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</a:t>
            </a:r>
            <a:endParaRPr/>
          </a:p>
        </p:txBody>
      </p:sp>
      <p:sp>
        <p:nvSpPr>
          <p:cNvPr id="143" name="Google Shape;143;p25"/>
          <p:cNvSpPr txBox="1"/>
          <p:nvPr>
            <p:ph idx="6" type="title"/>
          </p:nvPr>
        </p:nvSpPr>
        <p:spPr>
          <a:xfrm>
            <a:off x="713225" y="3599488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</a:t>
            </a:r>
            <a:endParaRPr/>
          </a:p>
        </p:txBody>
      </p:sp>
      <p:sp>
        <p:nvSpPr>
          <p:cNvPr id="144" name="Google Shape;144;p25"/>
          <p:cNvSpPr txBox="1"/>
          <p:nvPr>
            <p:ph idx="7" type="title"/>
          </p:nvPr>
        </p:nvSpPr>
        <p:spPr>
          <a:xfrm>
            <a:off x="4223200" y="3599489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5"/>
          <p:cNvSpPr txBox="1"/>
          <p:nvPr>
            <p:ph idx="1" type="subTitle"/>
          </p:nvPr>
        </p:nvSpPr>
        <p:spPr>
          <a:xfrm>
            <a:off x="1292489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Problema</a:t>
            </a:r>
            <a:endParaRPr/>
          </a:p>
        </p:txBody>
      </p:sp>
      <p:sp>
        <p:nvSpPr>
          <p:cNvPr id="146" name="Google Shape;146;p25"/>
          <p:cNvSpPr txBox="1"/>
          <p:nvPr>
            <p:ph idx="8" type="subTitle"/>
          </p:nvPr>
        </p:nvSpPr>
        <p:spPr>
          <a:xfrm>
            <a:off x="1292489" y="2133758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Solução</a:t>
            </a:r>
            <a:endParaRPr/>
          </a:p>
        </p:txBody>
      </p:sp>
      <p:sp>
        <p:nvSpPr>
          <p:cNvPr id="147" name="Google Shape;147;p25"/>
          <p:cNvSpPr txBox="1"/>
          <p:nvPr>
            <p:ph idx="9" type="subTitle"/>
          </p:nvPr>
        </p:nvSpPr>
        <p:spPr>
          <a:xfrm>
            <a:off x="1292489" y="2866625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Produto em Ação</a:t>
            </a:r>
            <a:endParaRPr/>
          </a:p>
        </p:txBody>
      </p:sp>
      <p:sp>
        <p:nvSpPr>
          <p:cNvPr id="148" name="Google Shape;148;p25"/>
          <p:cNvSpPr txBox="1"/>
          <p:nvPr>
            <p:ph idx="13" type="subTitle"/>
          </p:nvPr>
        </p:nvSpPr>
        <p:spPr>
          <a:xfrm>
            <a:off x="4799202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Adoção de Mercado</a:t>
            </a:r>
            <a:endParaRPr/>
          </a:p>
        </p:txBody>
      </p:sp>
      <p:sp>
        <p:nvSpPr>
          <p:cNvPr id="149" name="Google Shape;149;p25"/>
          <p:cNvSpPr txBox="1"/>
          <p:nvPr>
            <p:ph idx="14" type="subTitle"/>
          </p:nvPr>
        </p:nvSpPr>
        <p:spPr>
          <a:xfrm>
            <a:off x="4724402" y="2866631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Próximos Passos</a:t>
            </a:r>
            <a:endParaRPr/>
          </a:p>
        </p:txBody>
      </p:sp>
      <p:sp>
        <p:nvSpPr>
          <p:cNvPr id="150" name="Google Shape;150;p25"/>
          <p:cNvSpPr txBox="1"/>
          <p:nvPr>
            <p:ph idx="15" type="subTitle"/>
          </p:nvPr>
        </p:nvSpPr>
        <p:spPr>
          <a:xfrm>
            <a:off x="4799202" y="3599496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>
            <p:ph idx="9" type="subTitle"/>
          </p:nvPr>
        </p:nvSpPr>
        <p:spPr>
          <a:xfrm>
            <a:off x="1292501" y="3599500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Valor de Mercado</a:t>
            </a:r>
            <a:endParaRPr/>
          </a:p>
        </p:txBody>
      </p:sp>
      <p:sp>
        <p:nvSpPr>
          <p:cNvPr id="152" name="Google Shape;152;p25"/>
          <p:cNvSpPr txBox="1"/>
          <p:nvPr>
            <p:ph idx="14" type="subTitle"/>
          </p:nvPr>
        </p:nvSpPr>
        <p:spPr>
          <a:xfrm>
            <a:off x="4799202" y="2133744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Vantagens Competitivas</a:t>
            </a:r>
            <a:endParaRPr/>
          </a:p>
        </p:txBody>
      </p:sp>
      <p:sp>
        <p:nvSpPr>
          <p:cNvPr id="153" name="Google Shape;153;p25"/>
          <p:cNvSpPr txBox="1"/>
          <p:nvPr>
            <p:ph idx="4" type="title"/>
          </p:nvPr>
        </p:nvSpPr>
        <p:spPr>
          <a:xfrm>
            <a:off x="713225" y="2866626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endParaRPr/>
          </a:p>
        </p:txBody>
      </p:sp>
      <p:sp>
        <p:nvSpPr>
          <p:cNvPr id="154" name="Google Shape;154;p25"/>
          <p:cNvSpPr txBox="1"/>
          <p:nvPr>
            <p:ph idx="3" type="title"/>
          </p:nvPr>
        </p:nvSpPr>
        <p:spPr>
          <a:xfrm>
            <a:off x="4223200" y="2133740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6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6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95%</a:t>
            </a:r>
            <a:r>
              <a:rPr lang="en"/>
              <a:t> </a:t>
            </a:r>
            <a:r>
              <a:rPr lang="en" sz="2200"/>
              <a:t>das empresas brasileiras pagam mais impostos do que deveriam</a:t>
            </a:r>
            <a:br>
              <a:rPr lang="en" sz="2000"/>
            </a:br>
            <a:r>
              <a:rPr lang="en" sz="1400">
                <a:latin typeface="Inter"/>
                <a:ea typeface="Inter"/>
                <a:cs typeface="Inter"/>
                <a:sym typeface="Inter"/>
              </a:rPr>
              <a:t>(Fonte: Instituto Brasileiro de Planejamento e Tributação - IBPT)</a:t>
            </a:r>
            <a:endParaRPr sz="1400"/>
          </a:p>
        </p:txBody>
      </p:sp>
      <p:sp>
        <p:nvSpPr>
          <p:cNvPr id="163" name="Google Shape;163;p26"/>
          <p:cNvSpPr txBox="1"/>
          <p:nvPr>
            <p:ph idx="2" type="title"/>
          </p:nvPr>
        </p:nvSpPr>
        <p:spPr>
          <a:xfrm>
            <a:off x="722375" y="984100"/>
            <a:ext cx="41319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</a:t>
            </a:r>
            <a:r>
              <a:rPr lang="en"/>
              <a:t>O Problema</a:t>
            </a:r>
            <a:endParaRPr/>
          </a:p>
        </p:txBody>
      </p:sp>
      <p:sp>
        <p:nvSpPr>
          <p:cNvPr id="164" name="Google Shape;164;p26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7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7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“Custo Brasil” Fiscal é definido por:</a:t>
            </a:r>
            <a:endParaRPr/>
          </a:p>
        </p:txBody>
      </p:sp>
      <p:sp>
        <p:nvSpPr>
          <p:cNvPr id="173" name="Google Shape;173;p27"/>
          <p:cNvSpPr txBox="1"/>
          <p:nvPr>
            <p:ph idx="4" type="subTitle"/>
          </p:nvPr>
        </p:nvSpPr>
        <p:spPr>
          <a:xfrm>
            <a:off x="71322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Complexidade</a:t>
            </a:r>
            <a:br>
              <a:rPr lang="en"/>
            </a:br>
            <a:r>
              <a:rPr lang="en"/>
              <a:t>Extrema</a:t>
            </a:r>
            <a:endParaRPr/>
          </a:p>
        </p:txBody>
      </p:sp>
      <p:sp>
        <p:nvSpPr>
          <p:cNvPr id="174" name="Google Shape;174;p27"/>
          <p:cNvSpPr txBox="1"/>
          <p:nvPr>
            <p:ph idx="5" type="subTitle"/>
          </p:nvPr>
        </p:nvSpPr>
        <p:spPr>
          <a:xfrm>
            <a:off x="3319390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Processos Manuais Lentos</a:t>
            </a:r>
            <a:endParaRPr/>
          </a:p>
        </p:txBody>
      </p:sp>
      <p:sp>
        <p:nvSpPr>
          <p:cNvPr id="175" name="Google Shape;175;p27"/>
          <p:cNvSpPr txBox="1"/>
          <p:nvPr>
            <p:ph idx="1" type="subTitle"/>
          </p:nvPr>
        </p:nvSpPr>
        <p:spPr>
          <a:xfrm>
            <a:off x="71322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Milhares de regras fiscais que levam a erros de escrituração.</a:t>
            </a:r>
            <a:endParaRPr sz="1300"/>
          </a:p>
        </p:txBody>
      </p:sp>
      <p:sp>
        <p:nvSpPr>
          <p:cNvPr id="176" name="Google Shape;176;p27"/>
          <p:cNvSpPr txBox="1"/>
          <p:nvPr>
            <p:ph idx="2" type="subTitle"/>
          </p:nvPr>
        </p:nvSpPr>
        <p:spPr>
          <a:xfrm>
            <a:off x="3319390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Horas gastas na digitação e conferência de notas, gerando gargalos operacionais.</a:t>
            </a:r>
            <a:endParaRPr sz="1300"/>
          </a:p>
        </p:txBody>
      </p:sp>
      <p:sp>
        <p:nvSpPr>
          <p:cNvPr id="177" name="Google Shape;177;p27"/>
          <p:cNvSpPr txBox="1"/>
          <p:nvPr>
            <p:ph idx="3" type="subTitle"/>
          </p:nvPr>
        </p:nvSpPr>
        <p:spPr>
          <a:xfrm>
            <a:off x="592555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Gestores tomam decisões sem uma visão clara e consolidada dos dados fiscais.</a:t>
            </a:r>
            <a:endParaRPr sz="1300"/>
          </a:p>
        </p:txBody>
      </p:sp>
      <p:sp>
        <p:nvSpPr>
          <p:cNvPr id="178" name="Google Shape;178;p27"/>
          <p:cNvSpPr txBox="1"/>
          <p:nvPr>
            <p:ph idx="6" type="subTitle"/>
          </p:nvPr>
        </p:nvSpPr>
        <p:spPr>
          <a:xfrm>
            <a:off x="592555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Falta de Visibilidade Estratégica</a:t>
            </a:r>
            <a:endParaRPr/>
          </a:p>
        </p:txBody>
      </p:sp>
      <p:sp>
        <p:nvSpPr>
          <p:cNvPr id="179" name="Google Shape;179;p27"/>
          <p:cNvSpPr txBox="1"/>
          <p:nvPr>
            <p:ph idx="7" type="title"/>
          </p:nvPr>
        </p:nvSpPr>
        <p:spPr>
          <a:xfrm>
            <a:off x="3319390" y="1556080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endParaRPr/>
          </a:p>
        </p:txBody>
      </p:sp>
      <p:sp>
        <p:nvSpPr>
          <p:cNvPr id="180" name="Google Shape;180;p27"/>
          <p:cNvSpPr txBox="1"/>
          <p:nvPr>
            <p:ph idx="8" type="title"/>
          </p:nvPr>
        </p:nvSpPr>
        <p:spPr>
          <a:xfrm>
            <a:off x="713225" y="1556083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endParaRPr/>
          </a:p>
        </p:txBody>
      </p:sp>
      <p:sp>
        <p:nvSpPr>
          <p:cNvPr id="181" name="Google Shape;181;p27"/>
          <p:cNvSpPr txBox="1"/>
          <p:nvPr>
            <p:ph idx="9" type="title"/>
          </p:nvPr>
        </p:nvSpPr>
        <p:spPr>
          <a:xfrm>
            <a:off x="5925555" y="1556080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endParaRPr/>
          </a:p>
        </p:txBody>
      </p:sp>
      <p:sp>
        <p:nvSpPr>
          <p:cNvPr id="182" name="Google Shape;182;p27"/>
          <p:cNvSpPr txBox="1"/>
          <p:nvPr>
            <p:ph idx="6" type="subTitle"/>
          </p:nvPr>
        </p:nvSpPr>
        <p:spPr>
          <a:xfrm>
            <a:off x="713211" y="3457875"/>
            <a:ext cx="7717500" cy="92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 o Cenário se agrava: A Reforma Tributária (EC 132/23) cria uma urgência sem precedentes para a organização e otimização fiscal.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8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8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Apresentamos o Sistema de Gestão de NF-e com IA</a:t>
            </a:r>
            <a:endParaRPr sz="2200"/>
          </a:p>
        </p:txBody>
      </p:sp>
      <p:sp>
        <p:nvSpPr>
          <p:cNvPr id="191" name="Google Shape;191;p28"/>
          <p:cNvSpPr txBox="1"/>
          <p:nvPr>
            <p:ph idx="2" type="title"/>
          </p:nvPr>
        </p:nvSpPr>
        <p:spPr>
          <a:xfrm>
            <a:off x="722375" y="984100"/>
            <a:ext cx="41319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 Solução</a:t>
            </a:r>
            <a:endParaRPr/>
          </a:p>
        </p:txBody>
      </p:sp>
      <p:sp>
        <p:nvSpPr>
          <p:cNvPr id="192" name="Google Shape;192;p28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Uma plataforma inteligente que automatiza o fluxo de dados fiscais e os transforma em insights acionáveis.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Nossos 3 Pilares:</a:t>
            </a:r>
            <a:endParaRPr/>
          </a:p>
        </p:txBody>
      </p:sp>
      <p:sp>
        <p:nvSpPr>
          <p:cNvPr id="201" name="Google Shape;201;p29"/>
          <p:cNvSpPr txBox="1"/>
          <p:nvPr>
            <p:ph idx="4" type="subTitle"/>
          </p:nvPr>
        </p:nvSpPr>
        <p:spPr>
          <a:xfrm>
            <a:off x="71322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Automação de Ponta a Ponta</a:t>
            </a:r>
            <a:endParaRPr/>
          </a:p>
        </p:txBody>
      </p:sp>
      <p:sp>
        <p:nvSpPr>
          <p:cNvPr id="202" name="Google Shape;202;p29"/>
          <p:cNvSpPr txBox="1"/>
          <p:nvPr>
            <p:ph idx="5" type="subTitle"/>
          </p:nvPr>
        </p:nvSpPr>
        <p:spPr>
          <a:xfrm>
            <a:off x="3319390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Análise Visual e Intuitiva</a:t>
            </a:r>
            <a:endParaRPr/>
          </a:p>
        </p:txBody>
      </p:sp>
      <p:sp>
        <p:nvSpPr>
          <p:cNvPr id="203" name="Google Shape;203;p29"/>
          <p:cNvSpPr txBox="1"/>
          <p:nvPr>
            <p:ph idx="1" type="subTitle"/>
          </p:nvPr>
        </p:nvSpPr>
        <p:spPr>
          <a:xfrm>
            <a:off x="71322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Deixe que nossos agentes de IA cuidem da extração, mapeamento e inserção dos dados. </a:t>
            </a:r>
            <a:r>
              <a:rPr b="1" lang="en" sz="1300"/>
              <a:t>Zero entrada manual, zero erros operacionais.</a:t>
            </a:r>
            <a:endParaRPr sz="1300"/>
          </a:p>
        </p:txBody>
      </p:sp>
      <p:sp>
        <p:nvSpPr>
          <p:cNvPr id="204" name="Google Shape;204;p29"/>
          <p:cNvSpPr txBox="1"/>
          <p:nvPr>
            <p:ph idx="2" type="subTitle"/>
          </p:nvPr>
        </p:nvSpPr>
        <p:spPr>
          <a:xfrm>
            <a:off x="3319390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Dashboards interativos que revelam padrões de faturamento, performance de produtos e tendências geográficas. </a:t>
            </a:r>
            <a:r>
              <a:rPr b="1" lang="en" sz="1300"/>
              <a:t>Transforme dados em decisões.</a:t>
            </a:r>
            <a:endParaRPr sz="1300"/>
          </a:p>
        </p:txBody>
      </p:sp>
      <p:sp>
        <p:nvSpPr>
          <p:cNvPr id="205" name="Google Shape;205;p29"/>
          <p:cNvSpPr txBox="1"/>
          <p:nvPr>
            <p:ph idx="3" type="subTitle"/>
          </p:nvPr>
        </p:nvSpPr>
        <p:spPr>
          <a:xfrm>
            <a:off x="592555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Faça perguntas complexas e obtenha respostas instantâneas com textos e gráficos. </a:t>
            </a:r>
            <a:r>
              <a:rPr b="1" lang="en" sz="1300"/>
              <a:t>Converse com seus dados.</a:t>
            </a:r>
            <a:endParaRPr sz="1300"/>
          </a:p>
        </p:txBody>
      </p:sp>
      <p:sp>
        <p:nvSpPr>
          <p:cNvPr id="206" name="Google Shape;206;p29"/>
          <p:cNvSpPr txBox="1"/>
          <p:nvPr>
            <p:ph idx="6" type="subTitle"/>
          </p:nvPr>
        </p:nvSpPr>
        <p:spPr>
          <a:xfrm>
            <a:off x="592555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Assistente Conversacional com IA</a:t>
            </a:r>
            <a:endParaRPr/>
          </a:p>
        </p:txBody>
      </p:sp>
      <p:sp>
        <p:nvSpPr>
          <p:cNvPr id="207" name="Google Shape;207;p29"/>
          <p:cNvSpPr txBox="1"/>
          <p:nvPr>
            <p:ph idx="7" type="title"/>
          </p:nvPr>
        </p:nvSpPr>
        <p:spPr>
          <a:xfrm>
            <a:off x="3319390" y="1556080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endParaRPr/>
          </a:p>
        </p:txBody>
      </p:sp>
      <p:sp>
        <p:nvSpPr>
          <p:cNvPr id="208" name="Google Shape;208;p29"/>
          <p:cNvSpPr txBox="1"/>
          <p:nvPr>
            <p:ph idx="8" type="title"/>
          </p:nvPr>
        </p:nvSpPr>
        <p:spPr>
          <a:xfrm>
            <a:off x="713225" y="1556083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endParaRPr/>
          </a:p>
        </p:txBody>
      </p:sp>
      <p:sp>
        <p:nvSpPr>
          <p:cNvPr id="209" name="Google Shape;209;p29"/>
          <p:cNvSpPr txBox="1"/>
          <p:nvPr>
            <p:ph idx="9" type="title"/>
          </p:nvPr>
        </p:nvSpPr>
        <p:spPr>
          <a:xfrm>
            <a:off x="5925555" y="1556080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0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30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30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30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/>
              <a:t>Exibimos mini-capturas de tela das funções do sistema</a:t>
            </a:r>
            <a:endParaRPr sz="2200"/>
          </a:p>
        </p:txBody>
      </p:sp>
      <p:sp>
        <p:nvSpPr>
          <p:cNvPr id="218" name="Google Shape;218;p30"/>
          <p:cNvSpPr txBox="1"/>
          <p:nvPr>
            <p:ph idx="2" type="title"/>
          </p:nvPr>
        </p:nvSpPr>
        <p:spPr>
          <a:xfrm>
            <a:off x="722375" y="984100"/>
            <a:ext cx="62310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O Produto em Ação</a:t>
            </a:r>
            <a:endParaRPr/>
          </a:p>
        </p:txBody>
      </p:sp>
      <p:sp>
        <p:nvSpPr>
          <p:cNvPr id="219" name="Google Shape;219;p30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 Medium"/>
                <a:ea typeface="Roboto Medium"/>
                <a:cs typeface="Roboto Medium"/>
                <a:sym typeface="Roboto Medium"/>
              </a:rPr>
              <a:t>Nossa missão é democratizar a inteligência fiscal, tornando a gestão tributária simples, estratégica e eficiente.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31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31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3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Ingestão Automatizada</a:t>
            </a:r>
            <a:endParaRPr/>
          </a:p>
        </p:txBody>
      </p:sp>
      <p:sp>
        <p:nvSpPr>
          <p:cNvPr id="228" name="Google Shape;228;p31"/>
          <p:cNvSpPr txBox="1"/>
          <p:nvPr>
            <p:ph idx="2" type="subTitle"/>
          </p:nvPr>
        </p:nvSpPr>
        <p:spPr>
          <a:xfrm>
            <a:off x="719975" y="1734775"/>
            <a:ext cx="2976300" cy="28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O usuário faz o upload das NF-e em formato CSV compactadas. Nosso </a:t>
            </a:r>
            <a:r>
              <a:rPr b="1" lang="en" sz="1400"/>
              <a:t>Agente Supervisor</a:t>
            </a:r>
            <a:r>
              <a:rPr lang="en" sz="1400"/>
              <a:t> orquestra especialistas em IA que descompactam, mapeiam e inserem os dados no banco. Simples, rápido e seguro.</a:t>
            </a:r>
            <a:endParaRPr sz="1400"/>
          </a:p>
        </p:txBody>
      </p:sp>
      <p:sp>
        <p:nvSpPr>
          <p:cNvPr id="229" name="Google Shape;229;p31"/>
          <p:cNvSpPr txBox="1"/>
          <p:nvPr>
            <p:ph idx="3" type="subTitle"/>
          </p:nvPr>
        </p:nvSpPr>
        <p:spPr>
          <a:xfrm>
            <a:off x="719975" y="1379900"/>
            <a:ext cx="2976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Envie Arquivo ZIP com NF-e</a:t>
            </a:r>
            <a:endParaRPr/>
          </a:p>
        </p:txBody>
      </p:sp>
      <p:pic>
        <p:nvPicPr>
          <p:cNvPr id="230" name="Google Shape;23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6275" y="1379906"/>
            <a:ext cx="4852176" cy="27340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2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32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32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3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Dashboards Interativos</a:t>
            </a:r>
            <a:endParaRPr/>
          </a:p>
        </p:txBody>
      </p:sp>
      <p:sp>
        <p:nvSpPr>
          <p:cNvPr id="239" name="Google Shape;239;p32"/>
          <p:cNvSpPr txBox="1"/>
          <p:nvPr>
            <p:ph idx="2" type="subTitle"/>
          </p:nvPr>
        </p:nvSpPr>
        <p:spPr>
          <a:xfrm>
            <a:off x="719975" y="1734775"/>
            <a:ext cx="2976300" cy="28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Com um clique, visualize o faturamento total por estado em um mapa, analise o ranking dos produtos mais vendidos ou filtre dados por qualquer período.</a:t>
            </a:r>
            <a:endParaRPr sz="1400"/>
          </a:p>
        </p:txBody>
      </p:sp>
      <p:sp>
        <p:nvSpPr>
          <p:cNvPr id="240" name="Google Shape;240;p32"/>
          <p:cNvSpPr txBox="1"/>
          <p:nvPr>
            <p:ph idx="3" type="subTitle"/>
          </p:nvPr>
        </p:nvSpPr>
        <p:spPr>
          <a:xfrm>
            <a:off x="719975" y="1379900"/>
            <a:ext cx="2976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Crie Elementos Visuais</a:t>
            </a:r>
            <a:endParaRPr/>
          </a:p>
        </p:txBody>
      </p:sp>
      <p:pic>
        <p:nvPicPr>
          <p:cNvPr id="241" name="Google Shape;24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6275" y="1379900"/>
            <a:ext cx="4855464" cy="27340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3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7" name="Google Shape;247;p33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3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Assistente de IA</a:t>
            </a:r>
            <a:endParaRPr/>
          </a:p>
        </p:txBody>
      </p:sp>
      <p:sp>
        <p:nvSpPr>
          <p:cNvPr id="250" name="Google Shape;250;p33"/>
          <p:cNvSpPr txBox="1"/>
          <p:nvPr>
            <p:ph idx="2" type="subTitle"/>
          </p:nvPr>
        </p:nvSpPr>
        <p:spPr>
          <a:xfrm>
            <a:off x="719975" y="1734775"/>
            <a:ext cx="2976300" cy="28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Abra o chat e pergunte: "Qual o valor médio das notas em São Paulo no mês de Novembro de 2025?". O sistema entende, consulta os dados e gera a resposta, inclusive com elementos visuais.</a:t>
            </a:r>
            <a:endParaRPr sz="1400"/>
          </a:p>
        </p:txBody>
      </p:sp>
      <p:sp>
        <p:nvSpPr>
          <p:cNvPr id="251" name="Google Shape;251;p33"/>
          <p:cNvSpPr txBox="1"/>
          <p:nvPr>
            <p:ph idx="3" type="subTitle"/>
          </p:nvPr>
        </p:nvSpPr>
        <p:spPr>
          <a:xfrm>
            <a:off x="719975" y="1379900"/>
            <a:ext cx="2976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Faça Perguntas</a:t>
            </a:r>
            <a:endParaRPr/>
          </a:p>
        </p:txBody>
      </p:sp>
      <p:pic>
        <p:nvPicPr>
          <p:cNvPr id="252" name="Google Shape;25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6275" y="1379900"/>
            <a:ext cx="4855464" cy="27340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4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4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34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4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Um mercado vasto e em plena transformação digital</a:t>
            </a:r>
            <a:endParaRPr sz="2200"/>
          </a:p>
        </p:txBody>
      </p:sp>
      <p:sp>
        <p:nvSpPr>
          <p:cNvPr id="261" name="Google Shape;261;p34"/>
          <p:cNvSpPr txBox="1"/>
          <p:nvPr>
            <p:ph idx="2" type="title"/>
          </p:nvPr>
        </p:nvSpPr>
        <p:spPr>
          <a:xfrm>
            <a:off x="722375" y="984100"/>
            <a:ext cx="75750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r>
              <a:rPr lang="en"/>
              <a:t>. Valor de Mercado</a:t>
            </a:r>
            <a:endParaRPr/>
          </a:p>
        </p:txBody>
      </p:sp>
      <p:sp>
        <p:nvSpPr>
          <p:cNvPr id="262" name="Google Shape;262;p34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necessidade de otimização fiscal nunca foi tão alta.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Números do Mercado:</a:t>
            </a:r>
            <a:endParaRPr/>
          </a:p>
        </p:txBody>
      </p:sp>
      <p:sp>
        <p:nvSpPr>
          <p:cNvPr id="268" name="Google Shape;268;p35"/>
          <p:cNvSpPr txBox="1"/>
          <p:nvPr/>
        </p:nvSpPr>
        <p:spPr>
          <a:xfrm>
            <a:off x="4313330" y="1299838"/>
            <a:ext cx="1395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R$ 15 Bi</a:t>
            </a:r>
            <a:endParaRPr sz="160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69" name="Google Shape;269;p35"/>
          <p:cNvSpPr txBox="1"/>
          <p:nvPr/>
        </p:nvSpPr>
        <p:spPr>
          <a:xfrm>
            <a:off x="5670863" y="1299838"/>
            <a:ext cx="1395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100.676 un.</a:t>
            </a:r>
            <a:endParaRPr sz="160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70" name="Google Shape;270;p35"/>
          <p:cNvSpPr txBox="1"/>
          <p:nvPr/>
        </p:nvSpPr>
        <p:spPr>
          <a:xfrm>
            <a:off x="7028397" y="1299838"/>
            <a:ext cx="1395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5.000</a:t>
            </a:r>
            <a:r>
              <a:rPr lang="en"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" sz="160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un.</a:t>
            </a:r>
            <a:endParaRPr sz="160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71" name="Google Shape;271;p35"/>
          <p:cNvSpPr txBox="1"/>
          <p:nvPr/>
        </p:nvSpPr>
        <p:spPr>
          <a:xfrm>
            <a:off x="4313330" y="1654738"/>
            <a:ext cx="1395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TAM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35"/>
          <p:cNvSpPr txBox="1"/>
          <p:nvPr/>
        </p:nvSpPr>
        <p:spPr>
          <a:xfrm>
            <a:off x="5670863" y="1654738"/>
            <a:ext cx="1395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SAM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7028397" y="1654738"/>
            <a:ext cx="1395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SOM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35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77" name="Google Shape;277;p35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8100" y="2176438"/>
            <a:ext cx="4392846" cy="2060361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/>
          <p:nvPr/>
        </p:nvSpPr>
        <p:spPr>
          <a:xfrm>
            <a:off x="713225" y="1400875"/>
            <a:ext cx="36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Mercado Total Endereçável (TAM):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Mercado brasileiro de software de gestão (ERP) e fiscal.</a:t>
            </a:r>
            <a:endParaRPr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279" name="Google Shape;279;p35"/>
          <p:cNvSpPr txBox="1"/>
          <p:nvPr/>
        </p:nvSpPr>
        <p:spPr>
          <a:xfrm>
            <a:off x="713225" y="2472450"/>
            <a:ext cx="36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Mercado Endereçável e Acessível (SAM):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Organizações Contábeis no Brasil que atendem milhões de PMEs e precisam de ferramentas eficientes.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35"/>
          <p:cNvSpPr txBox="1"/>
          <p:nvPr/>
        </p:nvSpPr>
        <p:spPr>
          <a:xfrm>
            <a:off x="713225" y="3544025"/>
            <a:ext cx="36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 Medium"/>
                <a:ea typeface="Roboto Medium"/>
                <a:cs typeface="Roboto Medium"/>
                <a:sym typeface="Roboto Medium"/>
              </a:rPr>
              <a:t>Mercado Obtível (SOM):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Nosso foco inicial são 5.000 escritórios de contabilidade e PMEs que buscam uma solução de BI fiscal moderna e acessível.</a:t>
            </a:r>
            <a:endParaRPr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36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36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36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Modelo SaaS (S</a:t>
            </a:r>
            <a:r>
              <a:rPr lang="en" sz="2200"/>
              <a:t>oftware as a Service) Freemium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289" name="Google Shape;289;p36"/>
          <p:cNvSpPr txBox="1"/>
          <p:nvPr>
            <p:ph idx="2" type="title"/>
          </p:nvPr>
        </p:nvSpPr>
        <p:spPr>
          <a:xfrm>
            <a:off x="722375" y="984100"/>
            <a:ext cx="75750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Modelo de Negócio</a:t>
            </a:r>
            <a:endParaRPr/>
          </a:p>
        </p:txBody>
      </p:sp>
      <p:sp>
        <p:nvSpPr>
          <p:cNvPr id="290" name="Google Shape;290;p36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 Medium"/>
                <a:ea typeface="Roboto Medium"/>
                <a:cs typeface="Roboto Medium"/>
                <a:sym typeface="Roboto Medium"/>
              </a:rPr>
              <a:t>A</a:t>
            </a:r>
            <a:r>
              <a:rPr lang="en">
                <a:latin typeface="Roboto Medium"/>
                <a:ea typeface="Roboto Medium"/>
                <a:cs typeface="Roboto Medium"/>
                <a:sym typeface="Roboto Medium"/>
              </a:rPr>
              <a:t>cessível, escalável e focado em gerar valor contínuo.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7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37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7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Nossos 3 Planos e Preços:</a:t>
            </a:r>
            <a:endParaRPr/>
          </a:p>
        </p:txBody>
      </p:sp>
      <p:graphicFrame>
        <p:nvGraphicFramePr>
          <p:cNvPr id="299" name="Google Shape;299;p37"/>
          <p:cNvGraphicFramePr/>
          <p:nvPr/>
        </p:nvGraphicFramePr>
        <p:xfrm>
          <a:off x="720000" y="1772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{AE9D1308-345A-421A-9E02-396EEAEEFB33}</a:tableStyleId>
              </a:tblPr>
              <a:tblGrid>
                <a:gridCol w="2481375"/>
                <a:gridCol w="2748725"/>
                <a:gridCol w="2473900"/>
              </a:tblGrid>
              <a:tr h="36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Plano Básico (Freemium)</a:t>
                      </a:r>
                      <a:endParaRPr u="sng">
                        <a:solidFill>
                          <a:srgbClr val="000000"/>
                        </a:solidFill>
                        <a:latin typeface="Inter Medium"/>
                        <a:ea typeface="Inter Medium"/>
                        <a:cs typeface="Inter Medium"/>
                        <a:sym typeface="Inter Medium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Plano Profissional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Plano Enterprise</a:t>
                      </a:r>
                      <a:endParaRPr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Grátis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R$ 19,90/mês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Sob Consulta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Processamento de até 500 NF-e/mês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Processamento de até 10.000 NF-e/mês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Volume ilimitado de NF-e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Dashboards Padrão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Dashboards Personalizáveis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Agente de Auditoria Fiscal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Assistente de IA (básico)</a:t>
                      </a:r>
                      <a:endParaRPr sz="1300">
                        <a:solidFill>
                          <a:srgbClr val="000000"/>
                        </a:solidFill>
                        <a:latin typeface="Roboto Medium"/>
                        <a:ea typeface="Roboto Medium"/>
                        <a:cs typeface="Roboto Medium"/>
                        <a:sym typeface="Roboto Medium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Assistente de IA (avançado)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Integração com ERPs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8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38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8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8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Destaque competitivo alcançado com ideias chave em oportunidades de mercado</a:t>
            </a:r>
            <a:endParaRPr sz="2200"/>
          </a:p>
        </p:txBody>
      </p:sp>
      <p:sp>
        <p:nvSpPr>
          <p:cNvPr id="308" name="Google Shape;308;p38"/>
          <p:cNvSpPr txBox="1"/>
          <p:nvPr>
            <p:ph idx="2" type="title"/>
          </p:nvPr>
        </p:nvSpPr>
        <p:spPr>
          <a:xfrm>
            <a:off x="722375" y="984100"/>
            <a:ext cx="75750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Vantagens Competitivas</a:t>
            </a:r>
            <a:endParaRPr/>
          </a:p>
        </p:txBody>
      </p:sp>
      <p:sp>
        <p:nvSpPr>
          <p:cNvPr id="309" name="Google Shape;309;p38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39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39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9"/>
          <p:cNvSpPr txBox="1"/>
          <p:nvPr>
            <p:ph idx="6" type="subTitle"/>
          </p:nvPr>
        </p:nvSpPr>
        <p:spPr>
          <a:xfrm>
            <a:off x="713236" y="2857000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Custo-Benefício Superior Comparado ao Mercado</a:t>
            </a:r>
            <a:endParaRPr/>
          </a:p>
        </p:txBody>
      </p:sp>
      <p:sp>
        <p:nvSpPr>
          <p:cNvPr id="318" name="Google Shape;318;p3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Por que somos diferentes?</a:t>
            </a:r>
            <a:endParaRPr/>
          </a:p>
        </p:txBody>
      </p:sp>
      <p:sp>
        <p:nvSpPr>
          <p:cNvPr id="319" name="Google Shape;319;p39"/>
          <p:cNvSpPr txBox="1"/>
          <p:nvPr>
            <p:ph idx="1" type="subTitle"/>
          </p:nvPr>
        </p:nvSpPr>
        <p:spPr>
          <a:xfrm>
            <a:off x="713236" y="1841263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/>
              <a:t>Mais inteligente, flexível e escalável que soluções monolíticas. Nosso sistema “pensa” de forma especializada</a:t>
            </a:r>
            <a:endParaRPr sz="1300"/>
          </a:p>
        </p:txBody>
      </p:sp>
      <p:sp>
        <p:nvSpPr>
          <p:cNvPr id="320" name="Google Shape;320;p39"/>
          <p:cNvSpPr txBox="1"/>
          <p:nvPr>
            <p:ph idx="2" type="subTitle"/>
          </p:nvPr>
        </p:nvSpPr>
        <p:spPr>
          <a:xfrm>
            <a:off x="4398464" y="1841263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Nossas ferramentas são projetadas para a tomada de decisão estratégica, não apenas para a conformidade fiscal</a:t>
            </a:r>
            <a:endParaRPr sz="1300"/>
          </a:p>
        </p:txBody>
      </p:sp>
      <p:sp>
        <p:nvSpPr>
          <p:cNvPr id="321" name="Google Shape;321;p39"/>
          <p:cNvSpPr txBox="1"/>
          <p:nvPr>
            <p:ph idx="3" type="subTitle"/>
          </p:nvPr>
        </p:nvSpPr>
        <p:spPr>
          <a:xfrm>
            <a:off x="713236" y="3457887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/>
              <a:t>Nós acreditamos oferecer o poder de análise de um ERP de ponta por uma fração do preço</a:t>
            </a:r>
            <a:endParaRPr sz="1300"/>
          </a:p>
        </p:txBody>
      </p:sp>
      <p:sp>
        <p:nvSpPr>
          <p:cNvPr id="322" name="Google Shape;322;p39"/>
          <p:cNvSpPr txBox="1"/>
          <p:nvPr>
            <p:ph idx="4" type="subTitle"/>
          </p:nvPr>
        </p:nvSpPr>
        <p:spPr>
          <a:xfrm>
            <a:off x="4398464" y="3457887"/>
            <a:ext cx="33222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Em nossa análise, não foi identificado nenhum concorrente que permita ao gestor "conversar" com seus dados fiscais</a:t>
            </a:r>
            <a:endParaRPr sz="1300"/>
          </a:p>
        </p:txBody>
      </p:sp>
      <p:sp>
        <p:nvSpPr>
          <p:cNvPr id="323" name="Google Shape;323;p39"/>
          <p:cNvSpPr txBox="1"/>
          <p:nvPr>
            <p:ph idx="5" type="subTitle"/>
          </p:nvPr>
        </p:nvSpPr>
        <p:spPr>
          <a:xfrm>
            <a:off x="713236" y="1240363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Arquitetura de</a:t>
            </a:r>
            <a:br>
              <a:rPr lang="en"/>
            </a:br>
            <a:r>
              <a:rPr lang="en"/>
              <a:t>IA Multiagentes</a:t>
            </a:r>
            <a:endParaRPr/>
          </a:p>
        </p:txBody>
      </p:sp>
      <p:sp>
        <p:nvSpPr>
          <p:cNvPr id="324" name="Google Shape;324;p39"/>
          <p:cNvSpPr txBox="1"/>
          <p:nvPr>
            <p:ph idx="7" type="subTitle"/>
          </p:nvPr>
        </p:nvSpPr>
        <p:spPr>
          <a:xfrm>
            <a:off x="4398441" y="1240363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Foco no Gestor (Não Apenas no Contador)</a:t>
            </a:r>
            <a:endParaRPr/>
          </a:p>
        </p:txBody>
      </p:sp>
      <p:sp>
        <p:nvSpPr>
          <p:cNvPr id="325" name="Google Shape;325;p39"/>
          <p:cNvSpPr txBox="1"/>
          <p:nvPr>
            <p:ph idx="8" type="subTitle"/>
          </p:nvPr>
        </p:nvSpPr>
        <p:spPr>
          <a:xfrm>
            <a:off x="4398441" y="2857000"/>
            <a:ext cx="33222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Experiência de Usuário Inovadora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0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40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40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40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Nossa visão é criar um ecossistema fiscal completo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334" name="Google Shape;334;p40"/>
          <p:cNvSpPr txBox="1"/>
          <p:nvPr>
            <p:ph idx="2" type="title"/>
          </p:nvPr>
        </p:nvSpPr>
        <p:spPr>
          <a:xfrm>
            <a:off x="722375" y="984100"/>
            <a:ext cx="75750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Próximos Passos</a:t>
            </a:r>
            <a:endParaRPr/>
          </a:p>
        </p:txBody>
      </p:sp>
      <p:sp>
        <p:nvSpPr>
          <p:cNvPr id="335" name="Google Shape;335;p40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Próximos passos</a:t>
            </a:r>
            <a:endParaRPr/>
          </a:p>
        </p:txBody>
      </p:sp>
      <p:graphicFrame>
        <p:nvGraphicFramePr>
          <p:cNvPr id="341" name="Google Shape;341;p41"/>
          <p:cNvGraphicFramePr/>
          <p:nvPr/>
        </p:nvGraphicFramePr>
        <p:xfrm>
          <a:off x="720000" y="12243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{11956437-BD61-44E9-9959-3B7B5E1DDDC8}</a:tableStyleId>
              </a:tblPr>
              <a:tblGrid>
                <a:gridCol w="954500"/>
                <a:gridCol w="95450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  <a:gridCol w="241450"/>
              </a:tblGrid>
              <a:tr h="44185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Iniciativas</a:t>
                      </a:r>
                      <a:endParaRPr>
                        <a:solidFill>
                          <a:schemeClr val="dk1"/>
                        </a:solidFill>
                        <a:latin typeface="Inter Medium"/>
                        <a:ea typeface="Inter Medium"/>
                        <a:cs typeface="Inter Medium"/>
                        <a:sym typeface="Inter Medium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Q1 2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026</a:t>
                      </a:r>
                      <a:endParaRPr>
                        <a:solidFill>
                          <a:schemeClr val="dk1"/>
                        </a:solidFill>
                        <a:latin typeface="Inter Medium"/>
                        <a:ea typeface="Inter Medium"/>
                        <a:cs typeface="Inter Medium"/>
                        <a:sym typeface="Inter Medium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Q2 2026</a:t>
                      </a:r>
                      <a:endParaRPr>
                        <a:solidFill>
                          <a:schemeClr val="dk1"/>
                        </a:solidFill>
                        <a:latin typeface="Inter Medium"/>
                        <a:ea typeface="Inter Medium"/>
                        <a:cs typeface="Inter Medium"/>
                        <a:sym typeface="Inter Medium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Q3 2026</a:t>
                      </a:r>
                      <a:endParaRPr>
                        <a:solidFill>
                          <a:schemeClr val="dk1"/>
                        </a:solidFill>
                        <a:latin typeface="Inter Medium"/>
                        <a:ea typeface="Inter Medium"/>
                        <a:cs typeface="Inter Medium"/>
                        <a:sym typeface="Inter Medium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1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2027</a:t>
                      </a:r>
                      <a:endParaRPr>
                        <a:solidFill>
                          <a:schemeClr val="dk1"/>
                        </a:solidFill>
                        <a:latin typeface="Inter Medium"/>
                        <a:ea typeface="Inter Medium"/>
                        <a:cs typeface="Inter Medium"/>
                        <a:sym typeface="Inter Medium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450800">
                <a:tc grid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Lançamento do </a:t>
                      </a:r>
                      <a:r>
                        <a:rPr b="1"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Módulo de Processamento de XML e PDF 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com OCR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45700" marL="45700" anchor="ctr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800">
                <a:tc grid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Implementação do </a:t>
                      </a:r>
                      <a:r>
                        <a:rPr b="1"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Agente de Auditoria Fiscal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para detecção proativa de inconsistências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45700" marL="45700" anchor="ctr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800">
                <a:tc grid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Desenvolvimento de </a:t>
                      </a:r>
                      <a:r>
                        <a:rPr b="1"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Conectores para Integração</a:t>
                      </a:r>
                      <a:r>
                        <a:rPr lang="en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com os principais ERPs do mercado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45700" marB="45700" marR="45700" marL="45700" anchor="ctr">
                    <a:lnL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41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3" name="Google Shape;343;p41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41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5" name="Google Shape;345;p41"/>
          <p:cNvSpPr txBox="1"/>
          <p:nvPr>
            <p:ph idx="4294967295" type="subTitle"/>
          </p:nvPr>
        </p:nvSpPr>
        <p:spPr>
          <a:xfrm>
            <a:off x="719851" y="4112150"/>
            <a:ext cx="77043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2028+: Visão de Longo Prazo - </a:t>
            </a:r>
            <a:r>
              <a:rPr lang="en"/>
              <a:t>Evolução da plataforma com modelos de </a:t>
            </a:r>
            <a:r>
              <a:rPr b="1" lang="en"/>
              <a:t>Machine Learning</a:t>
            </a:r>
            <a:r>
              <a:rPr lang="en"/>
              <a:t> para antecipar o futuro: de previsão de faturamento a otimização de impostos.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2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42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42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42"/>
          <p:cNvSpPr txBox="1"/>
          <p:nvPr>
            <p:ph type="title"/>
          </p:nvPr>
        </p:nvSpPr>
        <p:spPr>
          <a:xfrm>
            <a:off x="713225" y="539506"/>
            <a:ext cx="4448100" cy="95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Obrigado!</a:t>
            </a:r>
            <a:endParaRPr sz="5000"/>
          </a:p>
        </p:txBody>
      </p:sp>
      <p:sp>
        <p:nvSpPr>
          <p:cNvPr id="354" name="Google Shape;354;p42"/>
          <p:cNvSpPr txBox="1"/>
          <p:nvPr>
            <p:ph idx="4294967295" type="subTitle"/>
          </p:nvPr>
        </p:nvSpPr>
        <p:spPr>
          <a:xfrm>
            <a:off x="713225" y="1423672"/>
            <a:ext cx="44481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</a:rPr>
              <a:t>Grupo SIA | Ícaro Ribeiro</a:t>
            </a:r>
            <a:endParaRPr b="1" sz="1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icaroribeiro@hotmail.com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hlinkClick r:id="rId3"/>
              </a:rPr>
              <a:t>https://www.linkedin.com/in/icaroribeiro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355" name="Google Shape;355;p42"/>
          <p:cNvSpPr txBox="1"/>
          <p:nvPr>
            <p:ph idx="1" type="subTitle"/>
          </p:nvPr>
        </p:nvSpPr>
        <p:spPr>
          <a:xfrm>
            <a:off x="5455675" y="3766252"/>
            <a:ext cx="2702100" cy="40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300"/>
              <a:t>Ícaro Ribeiro</a:t>
            </a:r>
            <a:br>
              <a:rPr lang="en" sz="1300"/>
            </a:br>
            <a:r>
              <a:rPr lang="en" sz="1300"/>
              <a:t>Engenheiro de Software Senior</a:t>
            </a:r>
            <a:endParaRPr sz="1300"/>
          </a:p>
        </p:txBody>
      </p:sp>
      <p:sp>
        <p:nvSpPr>
          <p:cNvPr id="356" name="Google Shape;356;p42"/>
          <p:cNvSpPr txBox="1"/>
          <p:nvPr>
            <p:ph idx="4294967295" type="subTitle"/>
          </p:nvPr>
        </p:nvSpPr>
        <p:spPr>
          <a:xfrm>
            <a:off x="4966075" y="1024050"/>
            <a:ext cx="3681300" cy="40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Nossa Equipe:</a:t>
            </a:r>
            <a:endParaRPr sz="1300">
              <a:solidFill>
                <a:schemeClr val="lt1"/>
              </a:solidFill>
            </a:endParaRPr>
          </a:p>
        </p:txBody>
      </p:sp>
      <p:cxnSp>
        <p:nvCxnSpPr>
          <p:cNvPr id="357" name="Google Shape;357;p42"/>
          <p:cNvCxnSpPr>
            <a:endCxn id="358" idx="2"/>
          </p:cNvCxnSpPr>
          <p:nvPr/>
        </p:nvCxnSpPr>
        <p:spPr>
          <a:xfrm flipH="1" rot="10800000">
            <a:off x="5260535" y="2066788"/>
            <a:ext cx="1546200" cy="367800"/>
          </a:xfrm>
          <a:prstGeom prst="bentConnector2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58" name="Google Shape;358;p42"/>
          <p:cNvSpPr txBox="1"/>
          <p:nvPr/>
        </p:nvSpPr>
        <p:spPr>
          <a:xfrm>
            <a:off x="6133985" y="1574188"/>
            <a:ext cx="1345500" cy="4926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Ícaro Ribeiro</a:t>
            </a:r>
            <a:endParaRPr sz="1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Líder</a:t>
            </a:r>
            <a:endParaRPr sz="1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59" name="Google Shape;359;p42" title="1742076062942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2025" y="2616850"/>
            <a:ext cx="1149400" cy="11494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0" name="Google Shape;360;p42"/>
          <p:cNvCxnSpPr/>
          <p:nvPr/>
        </p:nvCxnSpPr>
        <p:spPr>
          <a:xfrm flipH="1" rot="-5400000">
            <a:off x="7395935" y="1477588"/>
            <a:ext cx="367800" cy="1546200"/>
          </a:xfrm>
          <a:prstGeom prst="bentConnector2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3"/>
          <p:cNvSpPr txBox="1"/>
          <p:nvPr>
            <p:ph type="title"/>
          </p:nvPr>
        </p:nvSpPr>
        <p:spPr>
          <a:xfrm>
            <a:off x="713225" y="539506"/>
            <a:ext cx="4448100" cy="95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366" name="Google Shape;366;p43"/>
          <p:cNvSpPr txBox="1"/>
          <p:nvPr>
            <p:ph idx="1" type="subTitle"/>
          </p:nvPr>
        </p:nvSpPr>
        <p:spPr>
          <a:xfrm>
            <a:off x="713225" y="1423672"/>
            <a:ext cx="44481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Do you have any questions?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youremail@freepik.com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+34 654 321 432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yourwebsite.com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67" name="Google Shape;367;p43"/>
          <p:cNvSpPr txBox="1"/>
          <p:nvPr/>
        </p:nvSpPr>
        <p:spPr>
          <a:xfrm>
            <a:off x="713225" y="3908194"/>
            <a:ext cx="4151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Please keep this slide for attribution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43"/>
          <p:cNvSpPr/>
          <p:nvPr/>
        </p:nvSpPr>
        <p:spPr>
          <a:xfrm>
            <a:off x="749169" y="2673966"/>
            <a:ext cx="291347" cy="291669"/>
          </a:xfrm>
          <a:custGeom>
            <a:rect b="b" l="l" r="r" t="t"/>
            <a:pathLst>
              <a:path extrusionOk="0" h="10872" w="1086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9" name="Google Shape;369;p43"/>
          <p:cNvGrpSpPr/>
          <p:nvPr/>
        </p:nvGrpSpPr>
        <p:grpSpPr>
          <a:xfrm>
            <a:off x="1183178" y="2673494"/>
            <a:ext cx="288091" cy="292613"/>
            <a:chOff x="3303268" y="3817349"/>
            <a:chExt cx="346056" cy="345674"/>
          </a:xfrm>
        </p:grpSpPr>
        <p:sp>
          <p:nvSpPr>
            <p:cNvPr id="370" name="Google Shape;370;p43"/>
            <p:cNvSpPr/>
            <p:nvPr/>
          </p:nvSpPr>
          <p:spPr>
            <a:xfrm>
              <a:off x="330326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43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43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43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4" name="Google Shape;374;p43"/>
          <p:cNvGrpSpPr/>
          <p:nvPr/>
        </p:nvGrpSpPr>
        <p:grpSpPr>
          <a:xfrm>
            <a:off x="1625552" y="2673494"/>
            <a:ext cx="292625" cy="292613"/>
            <a:chOff x="3752358" y="3817349"/>
            <a:chExt cx="346056" cy="345674"/>
          </a:xfrm>
        </p:grpSpPr>
        <p:sp>
          <p:nvSpPr>
            <p:cNvPr id="375" name="Google Shape;375;p43"/>
            <p:cNvSpPr/>
            <p:nvPr/>
          </p:nvSpPr>
          <p:spPr>
            <a:xfrm>
              <a:off x="375235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43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43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43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9" name="Google Shape;379;p43"/>
          <p:cNvGrpSpPr/>
          <p:nvPr/>
        </p:nvGrpSpPr>
        <p:grpSpPr>
          <a:xfrm>
            <a:off x="2055284" y="2673489"/>
            <a:ext cx="292620" cy="292623"/>
            <a:chOff x="8145888" y="2870792"/>
            <a:chExt cx="292620" cy="292623"/>
          </a:xfrm>
        </p:grpSpPr>
        <p:sp>
          <p:nvSpPr>
            <p:cNvPr id="380" name="Google Shape;380;p43"/>
            <p:cNvSpPr/>
            <p:nvPr/>
          </p:nvSpPr>
          <p:spPr>
            <a:xfrm>
              <a:off x="8211186" y="2934325"/>
              <a:ext cx="162023" cy="165580"/>
            </a:xfrm>
            <a:custGeom>
              <a:rect b="b" l="l" r="r" t="t"/>
              <a:pathLst>
                <a:path extrusionOk="0" h="505587" w="494728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" name="Google Shape;381;p43"/>
            <p:cNvSpPr/>
            <p:nvPr/>
          </p:nvSpPr>
          <p:spPr>
            <a:xfrm>
              <a:off x="8145888" y="2870792"/>
              <a:ext cx="292620" cy="292623"/>
            </a:xfrm>
            <a:custGeom>
              <a:rect b="b" l="l" r="r" t="t"/>
              <a:pathLst>
                <a:path extrusionOk="0" h="10860" w="10872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82" name="Google Shape;382;p43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 Name/Product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43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DD/MM/YYYY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4" name="Google Shape;384;p43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Your Company Name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chemeClr val="dk1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4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44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1" name="Google Shape;391;p44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4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Tabela de Conteúdo</a:t>
            </a:r>
            <a:endParaRPr/>
          </a:p>
        </p:txBody>
      </p:sp>
      <p:sp>
        <p:nvSpPr>
          <p:cNvPr id="393" name="Google Shape;393;p44"/>
          <p:cNvSpPr txBox="1"/>
          <p:nvPr>
            <p:ph idx="2" type="title"/>
          </p:nvPr>
        </p:nvSpPr>
        <p:spPr>
          <a:xfrm>
            <a:off x="713225" y="1400863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endParaRPr/>
          </a:p>
        </p:txBody>
      </p:sp>
      <p:sp>
        <p:nvSpPr>
          <p:cNvPr id="394" name="Google Shape;394;p44"/>
          <p:cNvSpPr txBox="1"/>
          <p:nvPr>
            <p:ph idx="3" type="title"/>
          </p:nvPr>
        </p:nvSpPr>
        <p:spPr>
          <a:xfrm>
            <a:off x="4223200" y="1400840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</a:t>
            </a:r>
            <a:endParaRPr/>
          </a:p>
        </p:txBody>
      </p:sp>
      <p:sp>
        <p:nvSpPr>
          <p:cNvPr id="395" name="Google Shape;395;p44"/>
          <p:cNvSpPr txBox="1"/>
          <p:nvPr>
            <p:ph idx="4" type="title"/>
          </p:nvPr>
        </p:nvSpPr>
        <p:spPr>
          <a:xfrm>
            <a:off x="713225" y="2133738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endParaRPr/>
          </a:p>
        </p:txBody>
      </p:sp>
      <p:sp>
        <p:nvSpPr>
          <p:cNvPr id="396" name="Google Shape;396;p44"/>
          <p:cNvSpPr txBox="1"/>
          <p:nvPr>
            <p:ph idx="5" type="title"/>
          </p:nvPr>
        </p:nvSpPr>
        <p:spPr>
          <a:xfrm>
            <a:off x="4223200" y="2866614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</a:t>
            </a:r>
            <a:endParaRPr/>
          </a:p>
        </p:txBody>
      </p:sp>
      <p:sp>
        <p:nvSpPr>
          <p:cNvPr id="397" name="Google Shape;397;p44"/>
          <p:cNvSpPr txBox="1"/>
          <p:nvPr>
            <p:ph idx="6" type="title"/>
          </p:nvPr>
        </p:nvSpPr>
        <p:spPr>
          <a:xfrm>
            <a:off x="713225" y="3599488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</a:t>
            </a:r>
            <a:endParaRPr/>
          </a:p>
        </p:txBody>
      </p:sp>
      <p:sp>
        <p:nvSpPr>
          <p:cNvPr id="398" name="Google Shape;398;p44"/>
          <p:cNvSpPr txBox="1"/>
          <p:nvPr>
            <p:ph idx="7" type="title"/>
          </p:nvPr>
        </p:nvSpPr>
        <p:spPr>
          <a:xfrm>
            <a:off x="4223200" y="3599489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8.</a:t>
            </a:r>
            <a:endParaRPr/>
          </a:p>
        </p:txBody>
      </p:sp>
      <p:sp>
        <p:nvSpPr>
          <p:cNvPr id="399" name="Google Shape;399;p44"/>
          <p:cNvSpPr txBox="1"/>
          <p:nvPr>
            <p:ph idx="1" type="subTitle"/>
          </p:nvPr>
        </p:nvSpPr>
        <p:spPr>
          <a:xfrm>
            <a:off x="1292489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Problema</a:t>
            </a:r>
            <a:endParaRPr/>
          </a:p>
        </p:txBody>
      </p:sp>
      <p:sp>
        <p:nvSpPr>
          <p:cNvPr id="400" name="Google Shape;400;p44"/>
          <p:cNvSpPr txBox="1"/>
          <p:nvPr>
            <p:ph idx="8" type="subTitle"/>
          </p:nvPr>
        </p:nvSpPr>
        <p:spPr>
          <a:xfrm>
            <a:off x="1292489" y="2133758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Solução</a:t>
            </a:r>
            <a:endParaRPr/>
          </a:p>
        </p:txBody>
      </p:sp>
      <p:sp>
        <p:nvSpPr>
          <p:cNvPr id="401" name="Google Shape;401;p44"/>
          <p:cNvSpPr txBox="1"/>
          <p:nvPr>
            <p:ph idx="9" type="subTitle"/>
          </p:nvPr>
        </p:nvSpPr>
        <p:spPr>
          <a:xfrm>
            <a:off x="1292489" y="2866625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Produto em Ação</a:t>
            </a:r>
            <a:endParaRPr/>
          </a:p>
        </p:txBody>
      </p:sp>
      <p:sp>
        <p:nvSpPr>
          <p:cNvPr id="402" name="Google Shape;402;p44"/>
          <p:cNvSpPr txBox="1"/>
          <p:nvPr>
            <p:ph idx="13" type="subTitle"/>
          </p:nvPr>
        </p:nvSpPr>
        <p:spPr>
          <a:xfrm>
            <a:off x="4799202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 de Negócio</a:t>
            </a:r>
            <a:endParaRPr/>
          </a:p>
        </p:txBody>
      </p:sp>
      <p:sp>
        <p:nvSpPr>
          <p:cNvPr id="403" name="Google Shape;403;p44"/>
          <p:cNvSpPr txBox="1"/>
          <p:nvPr>
            <p:ph idx="14" type="subTitle"/>
          </p:nvPr>
        </p:nvSpPr>
        <p:spPr>
          <a:xfrm>
            <a:off x="4724402" y="2866631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Vantagens Competitivas</a:t>
            </a:r>
            <a:endParaRPr/>
          </a:p>
        </p:txBody>
      </p:sp>
      <p:sp>
        <p:nvSpPr>
          <p:cNvPr id="404" name="Google Shape;404;p44"/>
          <p:cNvSpPr txBox="1"/>
          <p:nvPr>
            <p:ph idx="15" type="subTitle"/>
          </p:nvPr>
        </p:nvSpPr>
        <p:spPr>
          <a:xfrm>
            <a:off x="4799202" y="3599496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Próximos Passos</a:t>
            </a:r>
            <a:endParaRPr/>
          </a:p>
        </p:txBody>
      </p:sp>
      <p:sp>
        <p:nvSpPr>
          <p:cNvPr id="405" name="Google Shape;405;p44"/>
          <p:cNvSpPr txBox="1"/>
          <p:nvPr>
            <p:ph idx="9" type="subTitle"/>
          </p:nvPr>
        </p:nvSpPr>
        <p:spPr>
          <a:xfrm>
            <a:off x="1292501" y="3599500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Valor de Mercado</a:t>
            </a:r>
            <a:endParaRPr/>
          </a:p>
        </p:txBody>
      </p:sp>
      <p:sp>
        <p:nvSpPr>
          <p:cNvPr id="406" name="Google Shape;406;p44"/>
          <p:cNvSpPr txBox="1"/>
          <p:nvPr>
            <p:ph idx="14" type="subTitle"/>
          </p:nvPr>
        </p:nvSpPr>
        <p:spPr>
          <a:xfrm>
            <a:off x="4799202" y="2133744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Adoção de Mercado</a:t>
            </a:r>
            <a:endParaRPr/>
          </a:p>
        </p:txBody>
      </p:sp>
      <p:sp>
        <p:nvSpPr>
          <p:cNvPr id="407" name="Google Shape;407;p44"/>
          <p:cNvSpPr txBox="1"/>
          <p:nvPr>
            <p:ph idx="4" type="title"/>
          </p:nvPr>
        </p:nvSpPr>
        <p:spPr>
          <a:xfrm>
            <a:off x="713225" y="2866626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endParaRPr/>
          </a:p>
        </p:txBody>
      </p:sp>
      <p:sp>
        <p:nvSpPr>
          <p:cNvPr id="408" name="Google Shape;408;p44"/>
          <p:cNvSpPr txBox="1"/>
          <p:nvPr>
            <p:ph idx="3" type="title"/>
          </p:nvPr>
        </p:nvSpPr>
        <p:spPr>
          <a:xfrm>
            <a:off x="4223200" y="2133740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chemeClr val="dk1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5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45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45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4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Tabela de Conteúdo</a:t>
            </a:r>
            <a:endParaRPr/>
          </a:p>
        </p:txBody>
      </p:sp>
      <p:sp>
        <p:nvSpPr>
          <p:cNvPr id="417" name="Google Shape;417;p45"/>
          <p:cNvSpPr txBox="1"/>
          <p:nvPr>
            <p:ph idx="2" type="title"/>
          </p:nvPr>
        </p:nvSpPr>
        <p:spPr>
          <a:xfrm>
            <a:off x="713225" y="1400863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endParaRPr/>
          </a:p>
        </p:txBody>
      </p:sp>
      <p:sp>
        <p:nvSpPr>
          <p:cNvPr id="418" name="Google Shape;418;p45"/>
          <p:cNvSpPr txBox="1"/>
          <p:nvPr>
            <p:ph idx="3" type="title"/>
          </p:nvPr>
        </p:nvSpPr>
        <p:spPr>
          <a:xfrm>
            <a:off x="4223200" y="1400840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</a:t>
            </a:r>
            <a:endParaRPr/>
          </a:p>
        </p:txBody>
      </p:sp>
      <p:sp>
        <p:nvSpPr>
          <p:cNvPr id="419" name="Google Shape;419;p45"/>
          <p:cNvSpPr txBox="1"/>
          <p:nvPr>
            <p:ph idx="4" type="title"/>
          </p:nvPr>
        </p:nvSpPr>
        <p:spPr>
          <a:xfrm>
            <a:off x="713225" y="2472438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endParaRPr/>
          </a:p>
        </p:txBody>
      </p:sp>
      <p:sp>
        <p:nvSpPr>
          <p:cNvPr id="420" name="Google Shape;420;p45"/>
          <p:cNvSpPr txBox="1"/>
          <p:nvPr>
            <p:ph idx="5" type="title"/>
          </p:nvPr>
        </p:nvSpPr>
        <p:spPr>
          <a:xfrm>
            <a:off x="4223200" y="2472414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</a:t>
            </a:r>
            <a:endParaRPr/>
          </a:p>
        </p:txBody>
      </p:sp>
      <p:sp>
        <p:nvSpPr>
          <p:cNvPr id="421" name="Google Shape;421;p45"/>
          <p:cNvSpPr txBox="1"/>
          <p:nvPr>
            <p:ph idx="6" type="title"/>
          </p:nvPr>
        </p:nvSpPr>
        <p:spPr>
          <a:xfrm>
            <a:off x="713225" y="3544013"/>
            <a:ext cx="5778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endParaRPr/>
          </a:p>
        </p:txBody>
      </p:sp>
      <p:sp>
        <p:nvSpPr>
          <p:cNvPr id="422" name="Google Shape;422;p45"/>
          <p:cNvSpPr txBox="1"/>
          <p:nvPr>
            <p:ph idx="7" type="title"/>
          </p:nvPr>
        </p:nvSpPr>
        <p:spPr>
          <a:xfrm>
            <a:off x="4223200" y="3543989"/>
            <a:ext cx="5760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</a:t>
            </a:r>
            <a:endParaRPr/>
          </a:p>
        </p:txBody>
      </p:sp>
      <p:sp>
        <p:nvSpPr>
          <p:cNvPr id="423" name="Google Shape;423;p45"/>
          <p:cNvSpPr txBox="1"/>
          <p:nvPr>
            <p:ph idx="1" type="subTitle"/>
          </p:nvPr>
        </p:nvSpPr>
        <p:spPr>
          <a:xfrm>
            <a:off x="1292489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 Problema</a:t>
            </a:r>
            <a:endParaRPr/>
          </a:p>
        </p:txBody>
      </p:sp>
      <p:sp>
        <p:nvSpPr>
          <p:cNvPr id="424" name="Google Shape;424;p45"/>
          <p:cNvSpPr txBox="1"/>
          <p:nvPr>
            <p:ph idx="8" type="subTitle"/>
          </p:nvPr>
        </p:nvSpPr>
        <p:spPr>
          <a:xfrm>
            <a:off x="1292489" y="2472433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Solução</a:t>
            </a:r>
            <a:endParaRPr/>
          </a:p>
        </p:txBody>
      </p:sp>
      <p:sp>
        <p:nvSpPr>
          <p:cNvPr id="425" name="Google Shape;425;p45"/>
          <p:cNvSpPr txBox="1"/>
          <p:nvPr>
            <p:ph idx="9" type="subTitle"/>
          </p:nvPr>
        </p:nvSpPr>
        <p:spPr>
          <a:xfrm>
            <a:off x="1292489" y="3544000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 Produto em Ação</a:t>
            </a:r>
            <a:endParaRPr/>
          </a:p>
        </p:txBody>
      </p:sp>
      <p:sp>
        <p:nvSpPr>
          <p:cNvPr id="426" name="Google Shape;426;p45"/>
          <p:cNvSpPr txBox="1"/>
          <p:nvPr>
            <p:ph idx="13" type="subTitle"/>
          </p:nvPr>
        </p:nvSpPr>
        <p:spPr>
          <a:xfrm>
            <a:off x="4799202" y="1400867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Valor de Mercado</a:t>
            </a:r>
            <a:endParaRPr/>
          </a:p>
        </p:txBody>
      </p:sp>
      <p:sp>
        <p:nvSpPr>
          <p:cNvPr id="427" name="Google Shape;427;p45"/>
          <p:cNvSpPr txBox="1"/>
          <p:nvPr>
            <p:ph idx="14" type="subTitle"/>
          </p:nvPr>
        </p:nvSpPr>
        <p:spPr>
          <a:xfrm>
            <a:off x="4799202" y="2472431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Vantagens Competitivas</a:t>
            </a:r>
            <a:endParaRPr/>
          </a:p>
        </p:txBody>
      </p:sp>
      <p:sp>
        <p:nvSpPr>
          <p:cNvPr id="428" name="Google Shape;428;p45"/>
          <p:cNvSpPr txBox="1"/>
          <p:nvPr>
            <p:ph idx="15" type="subTitle"/>
          </p:nvPr>
        </p:nvSpPr>
        <p:spPr>
          <a:xfrm>
            <a:off x="4799202" y="3543996"/>
            <a:ext cx="27021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Próximos Passos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chemeClr val="lt1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6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4" name="Google Shape;434;p46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02/11/2025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5" name="Google Shape;435;p46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46"/>
          <p:cNvSpPr txBox="1"/>
          <p:nvPr>
            <p:ph type="title"/>
          </p:nvPr>
        </p:nvSpPr>
        <p:spPr>
          <a:xfrm>
            <a:off x="722376" y="1861301"/>
            <a:ext cx="4131900" cy="156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Estratégia focada em quem mais precisa: contadores e PMEs.</a:t>
            </a:r>
            <a:endParaRPr sz="2200"/>
          </a:p>
        </p:txBody>
      </p:sp>
      <p:sp>
        <p:nvSpPr>
          <p:cNvPr id="437" name="Google Shape;437;p46"/>
          <p:cNvSpPr txBox="1"/>
          <p:nvPr>
            <p:ph idx="2" type="title"/>
          </p:nvPr>
        </p:nvSpPr>
        <p:spPr>
          <a:xfrm>
            <a:off x="722375" y="984100"/>
            <a:ext cx="7575000" cy="87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Adoção de Mercado</a:t>
            </a:r>
            <a:endParaRPr/>
          </a:p>
        </p:txBody>
      </p:sp>
      <p:sp>
        <p:nvSpPr>
          <p:cNvPr id="438" name="Google Shape;438;p46"/>
          <p:cNvSpPr txBox="1"/>
          <p:nvPr>
            <p:ph idx="1" type="subTitle"/>
          </p:nvPr>
        </p:nvSpPr>
        <p:spPr>
          <a:xfrm>
            <a:off x="722374" y="3431199"/>
            <a:ext cx="41319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chemeClr val="dk1"/>
        </a:solidFill>
      </p:bgPr>
    </p:bg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7"/>
          <p:cNvSpPr txBox="1"/>
          <p:nvPr/>
        </p:nvSpPr>
        <p:spPr>
          <a:xfrm>
            <a:off x="1343325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Gestão de NF-e com 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47"/>
          <p:cNvSpPr txBox="1"/>
          <p:nvPr/>
        </p:nvSpPr>
        <p:spPr>
          <a:xfrm>
            <a:off x="117900" y="4851000"/>
            <a:ext cx="1225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/11/2025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7"/>
          <p:cNvSpPr txBox="1"/>
          <p:nvPr/>
        </p:nvSpPr>
        <p:spPr>
          <a:xfrm>
            <a:off x="7800300" y="4851000"/>
            <a:ext cx="122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Grupo SIA</a:t>
            </a:r>
            <a:endParaRPr sz="7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4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Nossas 3 Estratégias:</a:t>
            </a:r>
            <a:endParaRPr/>
          </a:p>
        </p:txBody>
      </p:sp>
      <p:sp>
        <p:nvSpPr>
          <p:cNvPr id="447" name="Google Shape;447;p47"/>
          <p:cNvSpPr txBox="1"/>
          <p:nvPr>
            <p:ph idx="4" type="subTitle"/>
          </p:nvPr>
        </p:nvSpPr>
        <p:spPr>
          <a:xfrm>
            <a:off x="71322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Parcerias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Estratégicas</a:t>
            </a:r>
            <a:endParaRPr/>
          </a:p>
        </p:txBody>
      </p:sp>
      <p:sp>
        <p:nvSpPr>
          <p:cNvPr id="448" name="Google Shape;448;p47"/>
          <p:cNvSpPr txBox="1"/>
          <p:nvPr>
            <p:ph idx="5" type="subTitle"/>
          </p:nvPr>
        </p:nvSpPr>
        <p:spPr>
          <a:xfrm>
            <a:off x="3319390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Marketing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 Conteúdo</a:t>
            </a:r>
            <a:endParaRPr/>
          </a:p>
        </p:txBody>
      </p:sp>
      <p:sp>
        <p:nvSpPr>
          <p:cNvPr id="449" name="Google Shape;449;p47"/>
          <p:cNvSpPr txBox="1"/>
          <p:nvPr>
            <p:ph idx="1" type="subTitle"/>
          </p:nvPr>
        </p:nvSpPr>
        <p:spPr>
          <a:xfrm>
            <a:off x="71322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Alianças com escritórios de contabilidade para que ofereçam nossa plataforma como um diferencial para seus clientes.</a:t>
            </a:r>
            <a:endParaRPr sz="1400"/>
          </a:p>
        </p:txBody>
      </p:sp>
      <p:sp>
        <p:nvSpPr>
          <p:cNvPr id="450" name="Google Shape;450;p47"/>
          <p:cNvSpPr txBox="1"/>
          <p:nvPr>
            <p:ph idx="2" type="subTitle"/>
          </p:nvPr>
        </p:nvSpPr>
        <p:spPr>
          <a:xfrm>
            <a:off x="3319390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Criar artigos, webinars e guias sobre eficiência fiscal e a nova reforma tributária, posicionando nossa marca como autoridade no assunto.</a:t>
            </a:r>
            <a:endParaRPr sz="1300"/>
          </a:p>
        </p:txBody>
      </p:sp>
      <p:sp>
        <p:nvSpPr>
          <p:cNvPr id="451" name="Google Shape;451;p47"/>
          <p:cNvSpPr txBox="1"/>
          <p:nvPr>
            <p:ph idx="3" type="subTitle"/>
          </p:nvPr>
        </p:nvSpPr>
        <p:spPr>
          <a:xfrm>
            <a:off x="5925555" y="2588075"/>
            <a:ext cx="25053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Permitir que empresas testem o poder da nossa ferramenta gratuitamente, criando uma base de usuários sólida para conversão em planos pagos.</a:t>
            </a:r>
            <a:endParaRPr sz="1400"/>
          </a:p>
        </p:txBody>
      </p:sp>
      <p:sp>
        <p:nvSpPr>
          <p:cNvPr id="452" name="Google Shape;452;p47"/>
          <p:cNvSpPr txBox="1"/>
          <p:nvPr>
            <p:ph idx="6" type="subTitle"/>
          </p:nvPr>
        </p:nvSpPr>
        <p:spPr>
          <a:xfrm>
            <a:off x="5925555" y="1987175"/>
            <a:ext cx="2505300" cy="6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Freemium</a:t>
            </a:r>
            <a:endParaRPr/>
          </a:p>
        </p:txBody>
      </p:sp>
      <p:sp>
        <p:nvSpPr>
          <p:cNvPr id="453" name="Google Shape;453;p47"/>
          <p:cNvSpPr txBox="1"/>
          <p:nvPr>
            <p:ph idx="7" type="title"/>
          </p:nvPr>
        </p:nvSpPr>
        <p:spPr>
          <a:xfrm>
            <a:off x="3319390" y="1556080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endParaRPr/>
          </a:p>
        </p:txBody>
      </p:sp>
      <p:sp>
        <p:nvSpPr>
          <p:cNvPr id="454" name="Google Shape;454;p47"/>
          <p:cNvSpPr txBox="1"/>
          <p:nvPr>
            <p:ph idx="8" type="title"/>
          </p:nvPr>
        </p:nvSpPr>
        <p:spPr>
          <a:xfrm>
            <a:off x="713225" y="1556083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endParaRPr/>
          </a:p>
        </p:txBody>
      </p:sp>
      <p:sp>
        <p:nvSpPr>
          <p:cNvPr id="455" name="Google Shape;455;p47"/>
          <p:cNvSpPr txBox="1"/>
          <p:nvPr>
            <p:ph idx="9" type="title"/>
          </p:nvPr>
        </p:nvSpPr>
        <p:spPr>
          <a:xfrm>
            <a:off x="5925555" y="1556080"/>
            <a:ext cx="734700" cy="43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inimalist Pitch Deck by Slidesgo">
  <a:themeElements>
    <a:clrScheme name="Simple Light">
      <a:dk1>
        <a:srgbClr val="000000"/>
      </a:dk1>
      <a:lt1>
        <a:srgbClr val="EFEEE7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FEEE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