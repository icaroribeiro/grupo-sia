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PT Sans"/>
      <p:regular r:id="rId38"/>
      <p:bold r:id="rId39"/>
      <p:italic r:id="rId40"/>
      <p:boldItalic r:id="rId41"/>
    </p:embeddedFont>
    <p:embeddedFont>
      <p:font typeface="Inter Medium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297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0ED1C0-5C36-48CA-AD4B-77B59B7D5A2E}">
  <a:tblStyle styleId="{570ED1C0-5C36-48CA-AD4B-77B59B7D5A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545C560-9254-4400-A8C3-3D85775E75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9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italic.fntdata"/><Relationship Id="rId42" Type="http://schemas.openxmlformats.org/officeDocument/2006/relationships/font" Target="fonts/InterMedium-regular.fntdata"/><Relationship Id="rId41" Type="http://schemas.openxmlformats.org/officeDocument/2006/relationships/font" Target="fonts/PTSans-boldItalic.fntdata"/><Relationship Id="rId44" Type="http://schemas.openxmlformats.org/officeDocument/2006/relationships/font" Target="fonts/InterMedium-italic.fntdata"/><Relationship Id="rId43" Type="http://schemas.openxmlformats.org/officeDocument/2006/relationships/font" Target="fonts/InterMedium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Inter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33" Type="http://schemas.openxmlformats.org/officeDocument/2006/relationships/font" Target="fonts/RobotoMedium-boldItalic.fntdata"/><Relationship Id="rId32" Type="http://schemas.openxmlformats.org/officeDocument/2006/relationships/font" Target="fonts/RobotoMedium-italic.fntdata"/><Relationship Id="rId35" Type="http://schemas.openxmlformats.org/officeDocument/2006/relationships/font" Target="fonts/Inter-bold.fntdata"/><Relationship Id="rId34" Type="http://schemas.openxmlformats.org/officeDocument/2006/relationships/font" Target="fonts/Inter-regular.fntdata"/><Relationship Id="rId37" Type="http://schemas.openxmlformats.org/officeDocument/2006/relationships/font" Target="fonts/Inter-boldItalic.fntdata"/><Relationship Id="rId36" Type="http://schemas.openxmlformats.org/officeDocument/2006/relationships/font" Target="fonts/Inter-italic.fntdata"/><Relationship Id="rId39" Type="http://schemas.openxmlformats.org/officeDocument/2006/relationships/font" Target="fonts/PTSans-bold.fntdata"/><Relationship Id="rId38" Type="http://schemas.openxmlformats.org/officeDocument/2006/relationships/font" Target="fonts/PTSan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29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8300ce3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8300ce3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f8a0fb76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f8a0fb76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d1cda8c5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d1cda8c5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d1cda8c5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d1cda8c5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d1cda8c5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d1cda8c5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d1cda8c53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d1cda8c53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d1cda8c53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d1cda8c53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f3954b36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f3954b36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f3954b36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f3954b36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d1cda8c53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d1cda8c53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d1cda8c5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9d1cda8c5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d22f40a7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9d22f40a7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d22f40a7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d22f40a7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d1cda8c53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d1cda8c53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84d99d1a7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84d99d1a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d1cda8c53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d1cda8c53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d1cda8c53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d1cda8c53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d1cda8c5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9d1cda8c5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22376" y="984098"/>
            <a:ext cx="12357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720000" y="3318362"/>
            <a:ext cx="46614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719975" y="1734787"/>
            <a:ext cx="46614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719975" y="1379888"/>
            <a:ext cx="46614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719975" y="2963463"/>
            <a:ext cx="46614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" name="Google Shape;28;p5"/>
          <p:cNvSpPr/>
          <p:nvPr>
            <p:ph idx="5" type="pic"/>
          </p:nvPr>
        </p:nvSpPr>
        <p:spPr>
          <a:xfrm>
            <a:off x="5696375" y="1379900"/>
            <a:ext cx="2727600" cy="286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4709525" y="445775"/>
            <a:ext cx="3721200" cy="425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2" type="title"/>
          </p:nvPr>
        </p:nvSpPr>
        <p:spPr>
          <a:xfrm>
            <a:off x="713225" y="1400863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3" type="title"/>
          </p:nvPr>
        </p:nvSpPr>
        <p:spPr>
          <a:xfrm>
            <a:off x="4223200" y="1400840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4" type="title"/>
          </p:nvPr>
        </p:nvSpPr>
        <p:spPr>
          <a:xfrm>
            <a:off x="713225" y="2472438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5" type="title"/>
          </p:nvPr>
        </p:nvSpPr>
        <p:spPr>
          <a:xfrm>
            <a:off x="4223200" y="2472414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6" type="title"/>
          </p:nvPr>
        </p:nvSpPr>
        <p:spPr>
          <a:xfrm>
            <a:off x="713225" y="3544013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7" type="title"/>
          </p:nvPr>
        </p:nvSpPr>
        <p:spPr>
          <a:xfrm>
            <a:off x="4223200" y="3543989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1292489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8" type="subTitle"/>
          </p:nvPr>
        </p:nvSpPr>
        <p:spPr>
          <a:xfrm>
            <a:off x="1292489" y="2472433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9" type="subTitle"/>
          </p:nvPr>
        </p:nvSpPr>
        <p:spPr>
          <a:xfrm>
            <a:off x="1292489" y="3544000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3" type="subTitle"/>
          </p:nvPr>
        </p:nvSpPr>
        <p:spPr>
          <a:xfrm>
            <a:off x="4799202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4" type="subTitle"/>
          </p:nvPr>
        </p:nvSpPr>
        <p:spPr>
          <a:xfrm>
            <a:off x="4799202" y="2472431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5" type="subTitle"/>
          </p:nvPr>
        </p:nvSpPr>
        <p:spPr>
          <a:xfrm>
            <a:off x="4799202" y="3543996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1" name="Google Shape;71;p14"/>
          <p:cNvSpPr/>
          <p:nvPr>
            <p:ph idx="2" type="pic"/>
          </p:nvPr>
        </p:nvSpPr>
        <p:spPr>
          <a:xfrm>
            <a:off x="4709525" y="445775"/>
            <a:ext cx="3721200" cy="4251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488849" y="2398525"/>
            <a:ext cx="4941900" cy="1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hasCustomPrompt="1"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8"/>
          <p:cNvSpPr txBox="1"/>
          <p:nvPr>
            <p:ph hasCustomPrompt="1"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/>
          <p:nvPr>
            <p:ph hasCustomPrompt="1"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713236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subTitle"/>
          </p:nvPr>
        </p:nvSpPr>
        <p:spPr>
          <a:xfrm>
            <a:off x="4398464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3" type="subTitle"/>
          </p:nvPr>
        </p:nvSpPr>
        <p:spPr>
          <a:xfrm>
            <a:off x="713236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4" type="subTitle"/>
          </p:nvPr>
        </p:nvSpPr>
        <p:spPr>
          <a:xfrm>
            <a:off x="4398464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5" type="subTitle"/>
          </p:nvPr>
        </p:nvSpPr>
        <p:spPr>
          <a:xfrm>
            <a:off x="713236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6" type="subTitle"/>
          </p:nvPr>
        </p:nvSpPr>
        <p:spPr>
          <a:xfrm>
            <a:off x="713236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7" type="subTitle"/>
          </p:nvPr>
        </p:nvSpPr>
        <p:spPr>
          <a:xfrm>
            <a:off x="4398441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8" type="subTitle"/>
          </p:nvPr>
        </p:nvSpPr>
        <p:spPr>
          <a:xfrm>
            <a:off x="4398441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20"/>
          <p:cNvSpPr txBox="1"/>
          <p:nvPr>
            <p:ph hasCustomPrompt="1" type="title"/>
          </p:nvPr>
        </p:nvSpPr>
        <p:spPr>
          <a:xfrm>
            <a:off x="713213" y="1961151"/>
            <a:ext cx="3492600" cy="80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713213" y="2685345"/>
            <a:ext cx="3492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hasCustomPrompt="1" idx="2" type="title"/>
          </p:nvPr>
        </p:nvSpPr>
        <p:spPr>
          <a:xfrm>
            <a:off x="713222" y="615705"/>
            <a:ext cx="5241300" cy="954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20"/>
          <p:cNvSpPr txBox="1"/>
          <p:nvPr>
            <p:ph idx="3" type="subTitle"/>
          </p:nvPr>
        </p:nvSpPr>
        <p:spPr>
          <a:xfrm>
            <a:off x="713222" y="1493803"/>
            <a:ext cx="5241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hasCustomPrompt="1" idx="4" type="title"/>
          </p:nvPr>
        </p:nvSpPr>
        <p:spPr>
          <a:xfrm>
            <a:off x="713213" y="3121801"/>
            <a:ext cx="3492600" cy="80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20"/>
          <p:cNvSpPr txBox="1"/>
          <p:nvPr>
            <p:ph idx="5" type="subTitle"/>
          </p:nvPr>
        </p:nvSpPr>
        <p:spPr>
          <a:xfrm>
            <a:off x="713213" y="3845995"/>
            <a:ext cx="3492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/>
        </p:nvSpPr>
        <p:spPr>
          <a:xfrm>
            <a:off x="713225" y="3164478"/>
            <a:ext cx="309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b="1"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0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linkedin.com/in/icaroribeiro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713225" y="1066800"/>
            <a:ext cx="70872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Sistema de Gestão de NF-e com IA</a:t>
            </a:r>
            <a:br>
              <a:rPr lang="en"/>
            </a:b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Inter"/>
                <a:ea typeface="Inter"/>
                <a:cs typeface="Inter"/>
                <a:sym typeface="Inter"/>
              </a:rPr>
              <a:t>Transformando Dados Fiscais em Vantagem Competitiva</a:t>
            </a:r>
            <a:endParaRPr sz="2200"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713225" y="3395550"/>
            <a:ext cx="72441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Grupo SIA (Soluções Inteligentes Autônomas)</a:t>
            </a:r>
            <a:br>
              <a:rPr b="1" lang="en"/>
            </a:br>
            <a:r>
              <a:rPr b="1" lang="en"/>
              <a:t>Projeto de Conclusão de Curso: Agentes Autônomos com Redes Generativas</a:t>
            </a:r>
            <a:br>
              <a:rPr b="1" lang="en"/>
            </a:br>
            <a:r>
              <a:rPr lang="en" sz="1300"/>
              <a:t>Apresentação para a Banca Examinadora Novembro de 2025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28" name="Google Shape;128;p24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Tabela de Conteúdo</a:t>
            </a:r>
            <a:endParaRPr/>
          </a:p>
        </p:txBody>
      </p:sp>
      <p:sp>
        <p:nvSpPr>
          <p:cNvPr id="139" name="Google Shape;139;p25"/>
          <p:cNvSpPr txBox="1"/>
          <p:nvPr>
            <p:ph idx="2" type="title"/>
          </p:nvPr>
        </p:nvSpPr>
        <p:spPr>
          <a:xfrm>
            <a:off x="713225" y="1400863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223200" y="1400840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713225" y="2133738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42" name="Google Shape;142;p25"/>
          <p:cNvSpPr txBox="1"/>
          <p:nvPr>
            <p:ph idx="5" type="title"/>
          </p:nvPr>
        </p:nvSpPr>
        <p:spPr>
          <a:xfrm>
            <a:off x="4223200" y="2866614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</a:t>
            </a:r>
            <a:endParaRPr/>
          </a:p>
        </p:txBody>
      </p:sp>
      <p:sp>
        <p:nvSpPr>
          <p:cNvPr id="143" name="Google Shape;143;p25"/>
          <p:cNvSpPr txBox="1"/>
          <p:nvPr>
            <p:ph idx="6" type="title"/>
          </p:nvPr>
        </p:nvSpPr>
        <p:spPr>
          <a:xfrm>
            <a:off x="713225" y="3599488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144" name="Google Shape;144;p25"/>
          <p:cNvSpPr txBox="1"/>
          <p:nvPr>
            <p:ph idx="7" type="title"/>
          </p:nvPr>
        </p:nvSpPr>
        <p:spPr>
          <a:xfrm>
            <a:off x="4223200" y="3599489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1292489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Problema</a:t>
            </a:r>
            <a:endParaRPr/>
          </a:p>
        </p:txBody>
      </p:sp>
      <p:sp>
        <p:nvSpPr>
          <p:cNvPr id="146" name="Google Shape;146;p25"/>
          <p:cNvSpPr txBox="1"/>
          <p:nvPr>
            <p:ph idx="8" type="subTitle"/>
          </p:nvPr>
        </p:nvSpPr>
        <p:spPr>
          <a:xfrm>
            <a:off x="1292489" y="2133758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Solução</a:t>
            </a:r>
            <a:endParaRPr/>
          </a:p>
        </p:txBody>
      </p:sp>
      <p:sp>
        <p:nvSpPr>
          <p:cNvPr id="147" name="Google Shape;147;p25"/>
          <p:cNvSpPr txBox="1"/>
          <p:nvPr>
            <p:ph idx="9" type="subTitle"/>
          </p:nvPr>
        </p:nvSpPr>
        <p:spPr>
          <a:xfrm>
            <a:off x="1292489" y="2866625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Produto em Ação</a:t>
            </a:r>
            <a:endParaRPr/>
          </a:p>
        </p:txBody>
      </p:sp>
      <p:sp>
        <p:nvSpPr>
          <p:cNvPr id="148" name="Google Shape;148;p25"/>
          <p:cNvSpPr txBox="1"/>
          <p:nvPr>
            <p:ph idx="13" type="subTitle"/>
          </p:nvPr>
        </p:nvSpPr>
        <p:spPr>
          <a:xfrm>
            <a:off x="4799202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Adoção de Mercado</a:t>
            </a:r>
            <a:endParaRPr/>
          </a:p>
        </p:txBody>
      </p:sp>
      <p:sp>
        <p:nvSpPr>
          <p:cNvPr id="149" name="Google Shape;149;p25"/>
          <p:cNvSpPr txBox="1"/>
          <p:nvPr>
            <p:ph idx="14" type="subTitle"/>
          </p:nvPr>
        </p:nvSpPr>
        <p:spPr>
          <a:xfrm>
            <a:off x="4724402" y="2866631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Próximos Passos</a:t>
            </a:r>
            <a:endParaRPr/>
          </a:p>
        </p:txBody>
      </p:sp>
      <p:sp>
        <p:nvSpPr>
          <p:cNvPr id="150" name="Google Shape;150;p25"/>
          <p:cNvSpPr txBox="1"/>
          <p:nvPr>
            <p:ph idx="15" type="subTitle"/>
          </p:nvPr>
        </p:nvSpPr>
        <p:spPr>
          <a:xfrm>
            <a:off x="4799202" y="3599496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>
            <p:ph idx="9" type="subTitle"/>
          </p:nvPr>
        </p:nvSpPr>
        <p:spPr>
          <a:xfrm>
            <a:off x="1292501" y="3599500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Valor de Mercado</a:t>
            </a:r>
            <a:endParaRPr/>
          </a:p>
        </p:txBody>
      </p:sp>
      <p:sp>
        <p:nvSpPr>
          <p:cNvPr id="152" name="Google Shape;152;p25"/>
          <p:cNvSpPr txBox="1"/>
          <p:nvPr>
            <p:ph idx="14" type="subTitle"/>
          </p:nvPr>
        </p:nvSpPr>
        <p:spPr>
          <a:xfrm>
            <a:off x="4799202" y="2133744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Vantagens Competitivas</a:t>
            </a:r>
            <a:endParaRPr/>
          </a:p>
        </p:txBody>
      </p:sp>
      <p:sp>
        <p:nvSpPr>
          <p:cNvPr id="153" name="Google Shape;153;p25"/>
          <p:cNvSpPr txBox="1"/>
          <p:nvPr>
            <p:ph idx="4" type="title"/>
          </p:nvPr>
        </p:nvSpPr>
        <p:spPr>
          <a:xfrm>
            <a:off x="713225" y="2866626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154" name="Google Shape;154;p25"/>
          <p:cNvSpPr txBox="1"/>
          <p:nvPr>
            <p:ph idx="3" type="title"/>
          </p:nvPr>
        </p:nvSpPr>
        <p:spPr>
          <a:xfrm>
            <a:off x="4223200" y="2133740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6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95%</a:t>
            </a:r>
            <a:r>
              <a:rPr lang="en"/>
              <a:t> </a:t>
            </a:r>
            <a:r>
              <a:rPr lang="en" sz="2200"/>
              <a:t>das empresas brasileiras pagam mais impostos do que deveriam</a:t>
            </a:r>
            <a:br>
              <a:rPr lang="en" sz="2000"/>
            </a:br>
            <a:r>
              <a:rPr lang="en" sz="1400">
                <a:latin typeface="Inter"/>
                <a:ea typeface="Inter"/>
                <a:cs typeface="Inter"/>
                <a:sym typeface="Inter"/>
              </a:rPr>
              <a:t>(Fonte: Instituto Brasileiro de Planejamento e Tributação - IBPT)</a:t>
            </a:r>
            <a:endParaRPr sz="1400"/>
          </a:p>
        </p:txBody>
      </p:sp>
      <p:sp>
        <p:nvSpPr>
          <p:cNvPr id="163" name="Google Shape;163;p26"/>
          <p:cNvSpPr txBox="1"/>
          <p:nvPr>
            <p:ph idx="2" type="title"/>
          </p:nvPr>
        </p:nvSpPr>
        <p:spPr>
          <a:xfrm>
            <a:off x="722375" y="984100"/>
            <a:ext cx="41319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O Problema</a:t>
            </a:r>
            <a:endParaRPr/>
          </a:p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“Custo Brasil” Fiscal é definido por:</a:t>
            </a:r>
            <a:endParaRPr/>
          </a:p>
        </p:txBody>
      </p:sp>
      <p:sp>
        <p:nvSpPr>
          <p:cNvPr id="173" name="Google Shape;173;p27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Complexidade</a:t>
            </a:r>
            <a:br>
              <a:rPr lang="en"/>
            </a:br>
            <a:r>
              <a:rPr lang="en"/>
              <a:t>Extrema</a:t>
            </a:r>
            <a:endParaRPr/>
          </a:p>
        </p:txBody>
      </p:sp>
      <p:sp>
        <p:nvSpPr>
          <p:cNvPr id="174" name="Google Shape;174;p27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Processos Manuais Lentos</a:t>
            </a:r>
            <a:endParaRPr/>
          </a:p>
        </p:txBody>
      </p:sp>
      <p:sp>
        <p:nvSpPr>
          <p:cNvPr id="175" name="Google Shape;175;p27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Milhares de regras fiscais que levam a erros de escrituração.</a:t>
            </a:r>
            <a:endParaRPr sz="1300"/>
          </a:p>
        </p:txBody>
      </p:sp>
      <p:sp>
        <p:nvSpPr>
          <p:cNvPr id="176" name="Google Shape;176;p27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Horas gastas na digitação e conferência de notas, gerando gargalos operacionais.</a:t>
            </a:r>
            <a:endParaRPr sz="1300"/>
          </a:p>
        </p:txBody>
      </p:sp>
      <p:sp>
        <p:nvSpPr>
          <p:cNvPr id="177" name="Google Shape;177;p27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Gestores tomam decisões sem uma visão clara e consolidada dos dados fiscais.</a:t>
            </a:r>
            <a:endParaRPr sz="1300"/>
          </a:p>
        </p:txBody>
      </p:sp>
      <p:sp>
        <p:nvSpPr>
          <p:cNvPr id="178" name="Google Shape;178;p27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Falta de Visibilidade Estratégica</a:t>
            </a:r>
            <a:endParaRPr/>
          </a:p>
        </p:txBody>
      </p:sp>
      <p:sp>
        <p:nvSpPr>
          <p:cNvPr id="179" name="Google Shape;179;p27"/>
          <p:cNvSpPr txBox="1"/>
          <p:nvPr>
            <p:ph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80" name="Google Shape;180;p27"/>
          <p:cNvSpPr txBox="1"/>
          <p:nvPr>
            <p:ph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81" name="Google Shape;181;p27"/>
          <p:cNvSpPr txBox="1"/>
          <p:nvPr>
            <p:ph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182" name="Google Shape;182;p27"/>
          <p:cNvSpPr txBox="1"/>
          <p:nvPr>
            <p:ph idx="6" type="subTitle"/>
          </p:nvPr>
        </p:nvSpPr>
        <p:spPr>
          <a:xfrm>
            <a:off x="713211" y="3457875"/>
            <a:ext cx="77175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o cenário se agrava: A Reforma Tributária (EC 132/23) cria uma urgência sem precedentes para a organização e otimização fiscal.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8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Apresentamos o Sistema de Gestão de NF-e com IA</a:t>
            </a:r>
            <a:endParaRPr sz="2200"/>
          </a:p>
        </p:txBody>
      </p:sp>
      <p:sp>
        <p:nvSpPr>
          <p:cNvPr id="191" name="Google Shape;191;p28"/>
          <p:cNvSpPr txBox="1"/>
          <p:nvPr>
            <p:ph idx="2" type="title"/>
          </p:nvPr>
        </p:nvSpPr>
        <p:spPr>
          <a:xfrm>
            <a:off x="722375" y="984100"/>
            <a:ext cx="41319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 Solução</a:t>
            </a:r>
            <a:endParaRPr/>
          </a:p>
        </p:txBody>
      </p:sp>
      <p:sp>
        <p:nvSpPr>
          <p:cNvPr id="192" name="Google Shape;192;p28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Uma plataforma inteligente que automatiza o fluxo de dados fiscais e os transforma em insights acionáveis.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Nossos 3 Pilares:</a:t>
            </a:r>
            <a:endParaRPr/>
          </a:p>
        </p:txBody>
      </p:sp>
      <p:sp>
        <p:nvSpPr>
          <p:cNvPr id="201" name="Google Shape;201;p29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Automação de Ponta a Ponta</a:t>
            </a:r>
            <a:endParaRPr/>
          </a:p>
        </p:txBody>
      </p:sp>
      <p:sp>
        <p:nvSpPr>
          <p:cNvPr id="202" name="Google Shape;202;p29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Análise Visual e Intuitiva</a:t>
            </a:r>
            <a:endParaRPr/>
          </a:p>
        </p:txBody>
      </p:sp>
      <p:sp>
        <p:nvSpPr>
          <p:cNvPr id="203" name="Google Shape;203;p29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Deixe que nossos agentes de IA cuidem da extração, mapeamento e inserção dos dados. </a:t>
            </a:r>
            <a:r>
              <a:rPr b="1" lang="en" sz="1300"/>
              <a:t>Zero entrada manual, zero erros operacionais.</a:t>
            </a:r>
            <a:endParaRPr sz="1300"/>
          </a:p>
        </p:txBody>
      </p:sp>
      <p:sp>
        <p:nvSpPr>
          <p:cNvPr id="204" name="Google Shape;204;p29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Dashboards interativos que revelam padrões de faturamento, performance de produtos e tendências geográficas. </a:t>
            </a:r>
            <a:r>
              <a:rPr b="1" lang="en" sz="1300"/>
              <a:t>Transforme dados em decisões.</a:t>
            </a:r>
            <a:endParaRPr sz="1300"/>
          </a:p>
        </p:txBody>
      </p:sp>
      <p:sp>
        <p:nvSpPr>
          <p:cNvPr id="205" name="Google Shape;205;p29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Faça perguntas complexas e obtenha respostas instantâneas com textos e gráficos. </a:t>
            </a:r>
            <a:r>
              <a:rPr b="1" lang="en" sz="1300"/>
              <a:t>Converse com seus dados.</a:t>
            </a:r>
            <a:endParaRPr sz="1300"/>
          </a:p>
        </p:txBody>
      </p:sp>
      <p:sp>
        <p:nvSpPr>
          <p:cNvPr id="206" name="Google Shape;206;p29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Assistente Conversacional com IA</a:t>
            </a:r>
            <a:endParaRPr/>
          </a:p>
        </p:txBody>
      </p:sp>
      <p:sp>
        <p:nvSpPr>
          <p:cNvPr id="207" name="Google Shape;207;p29"/>
          <p:cNvSpPr txBox="1"/>
          <p:nvPr>
            <p:ph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08" name="Google Shape;208;p29"/>
          <p:cNvSpPr txBox="1"/>
          <p:nvPr>
            <p:ph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209" name="Google Shape;209;p29"/>
          <p:cNvSpPr txBox="1"/>
          <p:nvPr>
            <p:ph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0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Exibimos mini-capturas de tela das funções do sistema</a:t>
            </a:r>
            <a:endParaRPr sz="2200"/>
          </a:p>
        </p:txBody>
      </p:sp>
      <p:sp>
        <p:nvSpPr>
          <p:cNvPr id="218" name="Google Shape;218;p30"/>
          <p:cNvSpPr txBox="1"/>
          <p:nvPr>
            <p:ph idx="2" type="title"/>
          </p:nvPr>
        </p:nvSpPr>
        <p:spPr>
          <a:xfrm>
            <a:off x="722375" y="984100"/>
            <a:ext cx="6231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O Produto em Ação</a:t>
            </a:r>
            <a:endParaRPr/>
          </a:p>
        </p:txBody>
      </p:sp>
      <p:sp>
        <p:nvSpPr>
          <p:cNvPr id="219" name="Google Shape;219;p30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Nossa missão é democratizar a inteligência fiscal, tornando a gestão tributária simples, estratégica e eficiente.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Ingestão Automatizada</a:t>
            </a:r>
            <a:endParaRPr/>
          </a:p>
        </p:txBody>
      </p:sp>
      <p:sp>
        <p:nvSpPr>
          <p:cNvPr id="228" name="Google Shape;228;p31"/>
          <p:cNvSpPr txBox="1"/>
          <p:nvPr>
            <p:ph idx="2" type="subTitle"/>
          </p:nvPr>
        </p:nvSpPr>
        <p:spPr>
          <a:xfrm>
            <a:off x="719975" y="1734775"/>
            <a:ext cx="29763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 usuário faz o upload das NF-e em formato CSV compactadas. Nosso </a:t>
            </a:r>
            <a:r>
              <a:rPr b="1" lang="en" sz="1400"/>
              <a:t>Agente Supervisor</a:t>
            </a:r>
            <a:r>
              <a:rPr lang="en" sz="1400"/>
              <a:t> orquestra especialistas em IA que descompactam, mapeiam e inserem os dados no banco. Simples, rápido e seguro.</a:t>
            </a:r>
            <a:endParaRPr sz="1400"/>
          </a:p>
        </p:txBody>
      </p:sp>
      <p:sp>
        <p:nvSpPr>
          <p:cNvPr id="229" name="Google Shape;229;p31"/>
          <p:cNvSpPr txBox="1"/>
          <p:nvPr>
            <p:ph idx="3" type="subTitle"/>
          </p:nvPr>
        </p:nvSpPr>
        <p:spPr>
          <a:xfrm>
            <a:off x="719975" y="1379900"/>
            <a:ext cx="297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Envie Arquivo ZIP com NF-e</a:t>
            </a:r>
            <a:endParaRPr/>
          </a:p>
        </p:txBody>
      </p:sp>
      <p:pic>
        <p:nvPicPr>
          <p:cNvPr id="230" name="Google Shape;23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275" y="1379906"/>
            <a:ext cx="4852176" cy="273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Dashboards Interativos</a:t>
            </a:r>
            <a:endParaRPr/>
          </a:p>
        </p:txBody>
      </p:sp>
      <p:sp>
        <p:nvSpPr>
          <p:cNvPr id="239" name="Google Shape;239;p32"/>
          <p:cNvSpPr txBox="1"/>
          <p:nvPr>
            <p:ph idx="2" type="subTitle"/>
          </p:nvPr>
        </p:nvSpPr>
        <p:spPr>
          <a:xfrm>
            <a:off x="719975" y="1734775"/>
            <a:ext cx="29763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Com um clique, visualize o faturamento total por estado em um mapa, analise o ranking dos produtos mais vendidos ou filtre dados por qualquer período.</a:t>
            </a:r>
            <a:endParaRPr sz="1400"/>
          </a:p>
        </p:txBody>
      </p:sp>
      <p:sp>
        <p:nvSpPr>
          <p:cNvPr id="240" name="Google Shape;240;p32"/>
          <p:cNvSpPr txBox="1"/>
          <p:nvPr>
            <p:ph idx="3" type="subTitle"/>
          </p:nvPr>
        </p:nvSpPr>
        <p:spPr>
          <a:xfrm>
            <a:off x="719975" y="1379900"/>
            <a:ext cx="297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Crie Elementos Visuais</a:t>
            </a:r>
            <a:endParaRPr/>
          </a:p>
        </p:txBody>
      </p:sp>
      <p:pic>
        <p:nvPicPr>
          <p:cNvPr id="241" name="Google Shape;2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275" y="1379900"/>
            <a:ext cx="4855464" cy="273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Assistente de IA</a:t>
            </a:r>
            <a:endParaRPr/>
          </a:p>
        </p:txBody>
      </p:sp>
      <p:sp>
        <p:nvSpPr>
          <p:cNvPr id="250" name="Google Shape;250;p33"/>
          <p:cNvSpPr txBox="1"/>
          <p:nvPr>
            <p:ph idx="2" type="subTitle"/>
          </p:nvPr>
        </p:nvSpPr>
        <p:spPr>
          <a:xfrm>
            <a:off x="719975" y="1734775"/>
            <a:ext cx="29763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Abra o chat e pergunte: "Qual o valor médio das notas em São Paulo no mês de Novembro de 2025?". O sistema entende, consulta os dados e gera a resposta, inclusive com elementos visuais.</a:t>
            </a:r>
            <a:endParaRPr sz="1400"/>
          </a:p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719975" y="1379900"/>
            <a:ext cx="297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Faça Perguntas</a:t>
            </a:r>
            <a:endParaRPr/>
          </a:p>
        </p:txBody>
      </p:sp>
      <p:pic>
        <p:nvPicPr>
          <p:cNvPr id="252" name="Google Shape;2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275" y="1379900"/>
            <a:ext cx="4855464" cy="273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4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Um mercado vasto e em plena transformação digital</a:t>
            </a:r>
            <a:endParaRPr sz="2200"/>
          </a:p>
        </p:txBody>
      </p:sp>
      <p:sp>
        <p:nvSpPr>
          <p:cNvPr id="261" name="Google Shape;261;p34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Valor de Mercado</a:t>
            </a:r>
            <a:endParaRPr/>
          </a:p>
        </p:txBody>
      </p:sp>
      <p:sp>
        <p:nvSpPr>
          <p:cNvPr id="262" name="Google Shape;262;p34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necessidade de otimização fiscal nunca foi tão alta.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Números do Mercado:</a:t>
            </a:r>
            <a:endParaRPr/>
          </a:p>
        </p:txBody>
      </p:sp>
      <p:sp>
        <p:nvSpPr>
          <p:cNvPr id="268" name="Google Shape;268;p35"/>
          <p:cNvSpPr txBox="1"/>
          <p:nvPr/>
        </p:nvSpPr>
        <p:spPr>
          <a:xfrm>
            <a:off x="4313330" y="1299838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R$ 15 Bi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5670863" y="1299838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100.676 un.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7028397" y="1299838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5.000</a:t>
            </a: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un.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4313330" y="1654738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5670863" y="1654738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7028397" y="1654738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100" y="2176438"/>
            <a:ext cx="4392846" cy="206036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 txBox="1"/>
          <p:nvPr/>
        </p:nvSpPr>
        <p:spPr>
          <a:xfrm>
            <a:off x="713225" y="1400875"/>
            <a:ext cx="36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Mercado Total Endereçável (TAM):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Mercado brasileiro de software de gestão (ERP) e fiscal.</a:t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713225" y="2472450"/>
            <a:ext cx="36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Mercado Endereçável e Acessível (SAM):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Organizações Contábeis no Brasil que atendem milhões de PMEs e precisam de ferramentas eficientes.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713225" y="3544025"/>
            <a:ext cx="36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Mercado Obtível (SOM):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Nosso foco inicial são 5.000 escritórios de contabilidade e PMEs que buscam uma solução de BI fiscal moderna e acessível.</a:t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6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6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Modelo SaaS (S</a:t>
            </a:r>
            <a:r>
              <a:rPr lang="en" sz="2200"/>
              <a:t>oftware as a Service) Freemium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89" name="Google Shape;289;p36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Modelo de Negócio</a:t>
            </a:r>
            <a:endParaRPr/>
          </a:p>
        </p:txBody>
      </p:sp>
      <p:sp>
        <p:nvSpPr>
          <p:cNvPr id="290" name="Google Shape;290;p36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A</a:t>
            </a: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cessível, escalável e focado em gerar valor contínuo.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Nossos 3 Planos e Preços:</a:t>
            </a:r>
            <a:endParaRPr/>
          </a:p>
        </p:txBody>
      </p:sp>
      <p:graphicFrame>
        <p:nvGraphicFramePr>
          <p:cNvPr id="299" name="Google Shape;299;p37"/>
          <p:cNvGraphicFramePr/>
          <p:nvPr/>
        </p:nvGraphicFramePr>
        <p:xfrm>
          <a:off x="720000" y="177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{570ED1C0-5C36-48CA-AD4B-77B59B7D5A2E}</a:tableStyleId>
              </a:tblPr>
              <a:tblGrid>
                <a:gridCol w="2481375"/>
                <a:gridCol w="2748725"/>
                <a:gridCol w="2473900"/>
              </a:tblGrid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Plano Básico (Freemium)</a:t>
                      </a:r>
                      <a:endParaRPr u="sng">
                        <a:solidFill>
                          <a:srgbClr val="000000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Plano Profissional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Plano Enterprise</a:t>
                      </a:r>
                      <a:endParaRPr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Grátis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R$ 19,90/mês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Sob Consulta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Processamento de até 500 NF-e/mês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Processamento de até 10.000 NF-e/mês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Volume ilimitado de NF-e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Dashboards Padrão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Dashboards Personalizáveis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Agente de Auditoria Fiscal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Assistente de IA (básico)</a:t>
                      </a:r>
                      <a:endParaRPr sz="1300">
                        <a:solidFill>
                          <a:srgbClr val="000000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Assistente de IA (avançado)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Integração com ERPs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8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Destaque competitivo alcançado com ideias chave em oportunidades de mercado</a:t>
            </a:r>
            <a:endParaRPr sz="2200"/>
          </a:p>
        </p:txBody>
      </p:sp>
      <p:sp>
        <p:nvSpPr>
          <p:cNvPr id="308" name="Google Shape;308;p38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Vantagens Competitivas</a:t>
            </a:r>
            <a:endParaRPr/>
          </a:p>
        </p:txBody>
      </p:sp>
      <p:sp>
        <p:nvSpPr>
          <p:cNvPr id="309" name="Google Shape;309;p38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39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9"/>
          <p:cNvSpPr txBox="1"/>
          <p:nvPr>
            <p:ph idx="6" type="subTitle"/>
          </p:nvPr>
        </p:nvSpPr>
        <p:spPr>
          <a:xfrm>
            <a:off x="713236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Custo-Benefício Superior Comparado ao Mercado</a:t>
            </a:r>
            <a:endParaRPr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somos diferentes?</a:t>
            </a:r>
            <a:endParaRPr/>
          </a:p>
        </p:txBody>
      </p:sp>
      <p:sp>
        <p:nvSpPr>
          <p:cNvPr id="319" name="Google Shape;319;p39"/>
          <p:cNvSpPr txBox="1"/>
          <p:nvPr>
            <p:ph idx="1" type="subTitle"/>
          </p:nvPr>
        </p:nvSpPr>
        <p:spPr>
          <a:xfrm>
            <a:off x="713236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Mais inteligente, flexível e escalável que soluções monolíticas. Nosso sistema “pensa” de forma especializada</a:t>
            </a:r>
            <a:endParaRPr sz="1300"/>
          </a:p>
        </p:txBody>
      </p:sp>
      <p:sp>
        <p:nvSpPr>
          <p:cNvPr id="320" name="Google Shape;320;p39"/>
          <p:cNvSpPr txBox="1"/>
          <p:nvPr>
            <p:ph idx="2" type="subTitle"/>
          </p:nvPr>
        </p:nvSpPr>
        <p:spPr>
          <a:xfrm>
            <a:off x="4398464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Nossas ferramentas são projetadas para a tomada de decisão estratégica, não apenas para a conformidade fiscal</a:t>
            </a:r>
            <a:endParaRPr sz="1300"/>
          </a:p>
        </p:txBody>
      </p:sp>
      <p:sp>
        <p:nvSpPr>
          <p:cNvPr id="321" name="Google Shape;321;p39"/>
          <p:cNvSpPr txBox="1"/>
          <p:nvPr>
            <p:ph idx="3" type="subTitle"/>
          </p:nvPr>
        </p:nvSpPr>
        <p:spPr>
          <a:xfrm>
            <a:off x="713236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Nós acreditamos oferecer o poder de análise de um ERP de ponta por uma fração do preço</a:t>
            </a:r>
            <a:endParaRPr sz="1300"/>
          </a:p>
        </p:txBody>
      </p:sp>
      <p:sp>
        <p:nvSpPr>
          <p:cNvPr id="322" name="Google Shape;322;p39"/>
          <p:cNvSpPr txBox="1"/>
          <p:nvPr>
            <p:ph idx="4" type="subTitle"/>
          </p:nvPr>
        </p:nvSpPr>
        <p:spPr>
          <a:xfrm>
            <a:off x="4398464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Em nossa análise, não foi identificado nenhum concorrente que permita ao gestor "conversar" com seus dados fiscais</a:t>
            </a:r>
            <a:endParaRPr sz="1300"/>
          </a:p>
        </p:txBody>
      </p:sp>
      <p:sp>
        <p:nvSpPr>
          <p:cNvPr id="323" name="Google Shape;323;p39"/>
          <p:cNvSpPr txBox="1"/>
          <p:nvPr>
            <p:ph idx="5" type="subTitle"/>
          </p:nvPr>
        </p:nvSpPr>
        <p:spPr>
          <a:xfrm>
            <a:off x="713236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Arquitetura de</a:t>
            </a:r>
            <a:br>
              <a:rPr lang="en"/>
            </a:br>
            <a:r>
              <a:rPr lang="en"/>
              <a:t>IA Multiagentes</a:t>
            </a:r>
            <a:endParaRPr/>
          </a:p>
        </p:txBody>
      </p:sp>
      <p:sp>
        <p:nvSpPr>
          <p:cNvPr id="324" name="Google Shape;324;p39"/>
          <p:cNvSpPr txBox="1"/>
          <p:nvPr>
            <p:ph idx="7" type="subTitle"/>
          </p:nvPr>
        </p:nvSpPr>
        <p:spPr>
          <a:xfrm>
            <a:off x="4398441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Foco no Gestor (Não Apenas no Contador)</a:t>
            </a:r>
            <a:endParaRPr/>
          </a:p>
        </p:txBody>
      </p:sp>
      <p:sp>
        <p:nvSpPr>
          <p:cNvPr id="325" name="Google Shape;325;p39"/>
          <p:cNvSpPr txBox="1"/>
          <p:nvPr>
            <p:ph idx="8" type="subTitle"/>
          </p:nvPr>
        </p:nvSpPr>
        <p:spPr>
          <a:xfrm>
            <a:off x="4398441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Experiência de Usuário Inovadora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40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Nossa visão é criar um ecossistema fiscal completo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34" name="Google Shape;334;p40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Próximos Passos</a:t>
            </a:r>
            <a:endParaRPr/>
          </a:p>
        </p:txBody>
      </p:sp>
      <p:sp>
        <p:nvSpPr>
          <p:cNvPr id="335" name="Google Shape;335;p40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Próximos passos</a:t>
            </a:r>
            <a:endParaRPr/>
          </a:p>
        </p:txBody>
      </p:sp>
      <p:graphicFrame>
        <p:nvGraphicFramePr>
          <p:cNvPr id="341" name="Google Shape;341;p41"/>
          <p:cNvGraphicFramePr/>
          <p:nvPr/>
        </p:nvGraphicFramePr>
        <p:xfrm>
          <a:off x="720000" y="122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{3545C560-9254-4400-A8C3-3D85775E7572}</a:tableStyleId>
              </a:tblPr>
              <a:tblGrid>
                <a:gridCol w="954500"/>
                <a:gridCol w="95450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</a:tblGrid>
              <a:tr h="4418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Iniciativas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Q1 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026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Q2 2026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Q3 2026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2027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08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Lançamento do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Módulo de Processamento de XML e PDF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 OCR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8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Implementação do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Agente de Auditoria Fiscal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para detecção proativa de inconsistências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8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Desenvolvimento de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Conectores para Integração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com os principais ERPs do mercado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41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41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41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41"/>
          <p:cNvSpPr txBox="1"/>
          <p:nvPr>
            <p:ph idx="4294967295" type="subTitle"/>
          </p:nvPr>
        </p:nvSpPr>
        <p:spPr>
          <a:xfrm>
            <a:off x="719851" y="4112150"/>
            <a:ext cx="7704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2028+: Visão de Longo Prazo - </a:t>
            </a:r>
            <a:r>
              <a:rPr lang="en"/>
              <a:t>Evolução da plataforma com modelos de </a:t>
            </a:r>
            <a:r>
              <a:rPr b="1" lang="en"/>
              <a:t>Machine Learning</a:t>
            </a:r>
            <a:r>
              <a:rPr lang="en"/>
              <a:t> para antecipar o futuro: de previsão de faturamento a otimização de impostos.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42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42"/>
          <p:cNvSpPr txBox="1"/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Obrigado!</a:t>
            </a:r>
            <a:endParaRPr sz="5000"/>
          </a:p>
        </p:txBody>
      </p:sp>
      <p:sp>
        <p:nvSpPr>
          <p:cNvPr id="354" name="Google Shape;354;p42"/>
          <p:cNvSpPr txBox="1"/>
          <p:nvPr>
            <p:ph idx="4294967295" type="subTitle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Grupo SIA | Ícaro Ribeiro</a:t>
            </a:r>
            <a:endParaRPr b="1"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icaroribeiro@hotmail.com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https://www.linkedin.com/in/icaroribeiro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355" name="Google Shape;355;p42"/>
          <p:cNvSpPr txBox="1"/>
          <p:nvPr>
            <p:ph idx="1" type="subTitle"/>
          </p:nvPr>
        </p:nvSpPr>
        <p:spPr>
          <a:xfrm>
            <a:off x="5455675" y="3766252"/>
            <a:ext cx="27021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Ícaro Ribeiro</a:t>
            </a:r>
            <a:br>
              <a:rPr lang="en" sz="1300"/>
            </a:br>
            <a:r>
              <a:rPr lang="en" sz="1300"/>
              <a:t>Engenheiro de Software Senior</a:t>
            </a:r>
            <a:endParaRPr sz="1300"/>
          </a:p>
        </p:txBody>
      </p:sp>
      <p:sp>
        <p:nvSpPr>
          <p:cNvPr id="356" name="Google Shape;356;p42"/>
          <p:cNvSpPr txBox="1"/>
          <p:nvPr>
            <p:ph idx="4294967295" type="subTitle"/>
          </p:nvPr>
        </p:nvSpPr>
        <p:spPr>
          <a:xfrm>
            <a:off x="4966075" y="1024050"/>
            <a:ext cx="36813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Nossa Equipe:</a:t>
            </a:r>
            <a:endParaRPr sz="1300">
              <a:solidFill>
                <a:schemeClr val="lt1"/>
              </a:solidFill>
            </a:endParaRPr>
          </a:p>
        </p:txBody>
      </p:sp>
      <p:cxnSp>
        <p:nvCxnSpPr>
          <p:cNvPr id="357" name="Google Shape;357;p42"/>
          <p:cNvCxnSpPr>
            <a:endCxn id="358" idx="2"/>
          </p:cNvCxnSpPr>
          <p:nvPr/>
        </p:nvCxnSpPr>
        <p:spPr>
          <a:xfrm flipH="1" rot="10800000">
            <a:off x="5260535" y="2066788"/>
            <a:ext cx="1546200" cy="3678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8" name="Google Shape;358;p42"/>
          <p:cNvSpPr txBox="1"/>
          <p:nvPr/>
        </p:nvSpPr>
        <p:spPr>
          <a:xfrm>
            <a:off x="6133985" y="1574188"/>
            <a:ext cx="1345500" cy="49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Ícaro Ribeiro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Líder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9" name="Google Shape;359;p42" title="17420760629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2025" y="2616850"/>
            <a:ext cx="1149400" cy="114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" name="Google Shape;360;p42"/>
          <p:cNvCxnSpPr/>
          <p:nvPr/>
        </p:nvCxnSpPr>
        <p:spPr>
          <a:xfrm flipH="1" rot="-5400000">
            <a:off x="7395935" y="1477588"/>
            <a:ext cx="367800" cy="15462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